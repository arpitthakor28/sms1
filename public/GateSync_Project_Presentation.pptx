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1E40AF"/>
          </a:solidFill>
          <a:ln w="12700">
            <a:solidFill>
              <a:srgbClr val="1E40A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8640" y="329184"/>
            <a:ext cx="45720" cy="201168"/>
          </a:xfrm>
          <a:prstGeom prst="rect">
            <a:avLst/>
          </a:prstGeom>
          <a:solidFill>
            <a:srgbClr val="1E40AF"/>
          </a:solidFill>
          <a:ln w="12700">
            <a:solidFill>
              <a:srgbClr val="1E40A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58368" y="329184"/>
            <a:ext cx="54864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F2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P. P. SAVANI UNIVERSITY  •  SCHOOL OF ENGINEERING</a:t>
            </a:r>
            <a:endParaRPr lang="en-US" sz="1050" dirty="0"/>
          </a:p>
        </p:txBody>
      </p:sp>
      <p:pic>
        <p:nvPicPr>
          <p:cNvPr id="5" name="Image 0" descr="D:\Projects\GATESYNC\screenshots\ppsu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32320" y="274320"/>
            <a:ext cx="1463040" cy="59436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48640" y="731520"/>
            <a:ext cx="80467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F2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GATESYNC</a:t>
            </a:r>
            <a:endParaRPr lang="en-US" sz="4000" dirty="0"/>
          </a:p>
        </p:txBody>
      </p:sp>
      <p:sp>
        <p:nvSpPr>
          <p:cNvPr id="7" name="Text 4"/>
          <p:cNvSpPr/>
          <p:nvPr/>
        </p:nvSpPr>
        <p:spPr>
          <a:xfrm>
            <a:off x="548640" y="1298448"/>
            <a:ext cx="8046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40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Residential Society Security &amp; Visitor Management System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548640" y="1609344"/>
            <a:ext cx="8046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enterprise-grade, offline-first Progressive Web Application (PWA) replacing legacy paper visitor registers with sub-150ms bidirectional STOMP WebSocket gatekeeper alerts, 1-tap logistics clearance, and cryptographic guest access.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548640" y="2240280"/>
            <a:ext cx="8046720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548640" y="2240280"/>
            <a:ext cx="73152" cy="2286000"/>
          </a:xfrm>
          <a:prstGeom prst="rect">
            <a:avLst/>
          </a:prstGeom>
          <a:solidFill>
            <a:srgbClr val="0F2942"/>
          </a:solidFill>
          <a:ln w="12700">
            <a:solidFill>
              <a:srgbClr val="0F2942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777240" y="2377440"/>
            <a:ext cx="384048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DEVELOPER
</a:t>
            </a:r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ARPITSINH THAKOR
</a:t>
            </a:r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ENROLLMENT NUMBER
</a:t>
            </a:r>
            <a:pPr indent="0" marL="0">
              <a:buNone/>
            </a:pPr>
            <a:r>
              <a:rPr lang="en-US" sz="1400" b="1" dirty="0">
                <a:solidFill>
                  <a:srgbClr val="1E40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23SE02IE040
</a:t>
            </a:r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DEGREE &amp; BRANCH
</a:t>
            </a:r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B.Tech in Information Technology &amp; Engineering
</a:t>
            </a:r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School of Engineering
</a:t>
            </a:r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 FOCUS:  </a:t>
            </a:r>
            <a:pPr indent="0" marL="0">
              <a:buNone/>
            </a:pPr>
            <a:r>
              <a:rPr lang="en-US" sz="11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Stack Development - Java</a:t>
            </a:r>
            <a:endParaRPr lang="en-US" sz="850" dirty="0"/>
          </a:p>
        </p:txBody>
      </p:sp>
      <p:sp>
        <p:nvSpPr>
          <p:cNvPr id="12" name="Text 9"/>
          <p:cNvSpPr/>
          <p:nvPr/>
        </p:nvSpPr>
        <p:spPr>
          <a:xfrm>
            <a:off x="4846320" y="2377440"/>
            <a:ext cx="356616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INSTITUTION
</a:t>
            </a:r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School of Engineering
</a:t>
            </a:r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P. P. Savani University, Surat, Gujarat, India
</a:t>
            </a:r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CATEGORY
</a:t>
            </a:r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Year Project
</a:t>
            </a:r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ACADEMIC YEAR
</a:t>
            </a:r>
            <a:pPr indent="0" marL="0">
              <a:buNone/>
            </a:pPr>
            <a:r>
              <a:rPr lang="en-US" sz="1300" b="1" dirty="0">
                <a:solidFill>
                  <a:srgbClr val="1E40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Academic Year 2026–2027
</a:t>
            </a:r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Major Project Presentation (AY 2026–2027)</a:t>
            </a:r>
            <a:endParaRPr lang="en-US" sz="8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1E40AF"/>
          </a:solidFill>
          <a:ln w="12700">
            <a:solidFill>
              <a:srgbClr val="1E40A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219456"/>
            <a:ext cx="5486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E40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01. BACKGROUND &amp; CHALLENGES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548640" y="420624"/>
            <a:ext cx="8046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2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 &amp; Motivation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548640" y="768096"/>
            <a:ext cx="8046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Traditional Physical Gatehouse Registers Fail in Modern Residential Societies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548640" y="1005840"/>
            <a:ext cx="8046720" cy="9144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48640" y="4754880"/>
            <a:ext cx="8046720" cy="9144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4800600"/>
            <a:ext cx="5943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GateSync — Smart Society Security System  |  Arpitsinh Thakor (23SE02IE040)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6583680" y="4800600"/>
            <a:ext cx="2011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1E40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SCHOOL OF ENGINEERING  •  SLIDE 2 / 12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548640" y="1143000"/>
            <a:ext cx="3886200" cy="3474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48640" y="1143000"/>
            <a:ext cx="73152" cy="347472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77240" y="1280160"/>
            <a:ext cx="3520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 CHALLENGES IN PAPER LOGBOOKS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777240" y="1600200"/>
            <a:ext cx="3520440" cy="2880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Severe Gate Congestion: </a:t>
            </a:r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pen-and-paper logging causes 3–5 min entry delays per vehicle during rush hours.
</a:t>
            </a:r>
            <a:pPr indent="0" marL="0">
              <a:buNone/>
            </a:pPr>
            <a:r>
              <a:rPr lang="en-US" sz="9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Privacy Leaks: </a:t>
            </a:r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Resident flat numbers and visitor phone numbers sit exposed in open paper ledgers.
</a:t>
            </a:r>
            <a:pPr indent="0" marL="0">
              <a:buNone/>
            </a:pPr>
            <a:r>
              <a:rPr lang="en-US" sz="9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No Real-Time Verification: </a:t>
            </a:r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Guards rely on intercoms or phone calls that go unanswered, leading to unverified entry.
</a:t>
            </a:r>
            <a:pPr indent="0" marL="0">
              <a:buNone/>
            </a:pPr>
            <a:r>
              <a:rPr lang="en-US" sz="9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E-Commerce Logistics Surges: </a:t>
            </a:r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Frequent deliveries (Swiggy, Zomato, Amazon, Blinkit) overwhelm gatekeepers with repetitive typing.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4709160" y="1143000"/>
            <a:ext cx="3886200" cy="3474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709160" y="1143000"/>
            <a:ext cx="73152" cy="347472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937760" y="1280160"/>
            <a:ext cx="3520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GATESYNC DIGITAL TRANSFORMATION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937760" y="1600200"/>
            <a:ext cx="3520440" cy="2880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Sub-150ms Instant Push Alerting: </a:t>
            </a:r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Bidirectional STOMP WebSockets push arrival alerts straight to the resident mobile screen before visitor reaches barrier.
</a:t>
            </a:r>
            <a:pPr indent="0" marL="0">
              <a:buNone/>
            </a:pPr>
            <a:r>
              <a:rPr lang="en-US" sz="9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1-Tap Resident Remote Approvals: </a:t>
            </a:r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Residents verify visitor identity with arrival photo and tap Approve or Deny from anywhere in the world.
</a:t>
            </a:r>
            <a:pPr indent="0" marL="0">
              <a:buNone/>
            </a:pPr>
            <a:r>
              <a:rPr lang="en-US" sz="9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Pre-Approved QR &amp; 6-Digit Passes: </a:t>
            </a:r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Residents generate digital passes in advance for expected guests. Guards verify in 2 seconds via optical QR scanning.
</a:t>
            </a:r>
            <a:pPr indent="0" marL="0">
              <a:buNone/>
            </a:pPr>
            <a:r>
              <a:rPr lang="en-US" sz="9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1-Tap Logistics Partner Clearing: </a:t>
            </a:r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Dedicated 1-tap fast ingress for Swiggy, Zomato, Amazon, and Blinkit completely eliminates typing bottlenecks.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1E40AF"/>
          </a:solidFill>
          <a:ln w="12700">
            <a:solidFill>
              <a:srgbClr val="1E40A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219456"/>
            <a:ext cx="5486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E40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02. ENGINEERING ARCHITECTURE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548640" y="420624"/>
            <a:ext cx="8046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2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Full-Stack Architecture &amp; Technology Stack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548640" y="768096"/>
            <a:ext cx="8046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Robust Multi-Tier Cloud Architecture Built for Real-Time Responsiveness and Zero Data Loss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548640" y="1005840"/>
            <a:ext cx="8046720" cy="9144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48640" y="4754880"/>
            <a:ext cx="8046720" cy="9144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4800600"/>
            <a:ext cx="5943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GateSync — Smart Society Security System  |  Arpitsinh Thakor (23SE02IE040)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6583680" y="4800600"/>
            <a:ext cx="2011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1E40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SCHOOL OF ENGINEERING  •  SLIDE 3 / 12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548640" y="1143000"/>
            <a:ext cx="5029200" cy="7863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48640" y="1143000"/>
            <a:ext cx="54864" cy="786384"/>
          </a:xfrm>
          <a:prstGeom prst="rect">
            <a:avLst/>
          </a:prstGeom>
          <a:solidFill>
            <a:srgbClr val="1E40AF"/>
          </a:solidFill>
          <a:ln w="12700">
            <a:solidFill>
              <a:srgbClr val="1E40A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31520" y="1216152"/>
            <a:ext cx="46634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E40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 PRESENTATION TIER (PWA)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731520" y="1399032"/>
            <a:ext cx="4663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19 • Vite • Lucide Icons • STOMP over SockJS • Service Worker Precaching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731520" y="1581912"/>
            <a:ext cx="4663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Installable Progressive Web App (PWA) with responsive layouts, offline transaction queue, and audible chime notifications.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548640" y="2020824"/>
            <a:ext cx="5029200" cy="7863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48640" y="2020824"/>
            <a:ext cx="54864" cy="786384"/>
          </a:xfrm>
          <a:prstGeom prst="rect">
            <a:avLst/>
          </a:prstGeom>
          <a:solidFill>
            <a:srgbClr val="0F2942"/>
          </a:solidFill>
          <a:ln w="12700">
            <a:solidFill>
              <a:srgbClr val="0F294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31520" y="2093976"/>
            <a:ext cx="46634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F2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MICROSERVICE CORE (JAVA)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731520" y="2276856"/>
            <a:ext cx="4663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 21 LTS • Spring Boot 3.3.4 • Spring Security 6 • JJWT • RESTful APIs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731520" y="2459736"/>
            <a:ext cx="4663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Stateless multi-tenant controllers, WebSocket message broker (/topic and /user/queue), and atomic concurrency locks.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548640" y="2898648"/>
            <a:ext cx="5029200" cy="7863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48640" y="2898648"/>
            <a:ext cx="54864" cy="786384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31520" y="2971800"/>
            <a:ext cx="46634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DUAL-DATABASE PERSISTENCE STRATEGY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731520" y="3154680"/>
            <a:ext cx="4663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MongoDB Atlas Cloud (Distributed NoSQL) + Relational Enterprise Mapping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731520" y="3337560"/>
            <a:ext cx="4663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MongoDB Atlas stores high-throughput notifications, pre-approved passes, and audit trails; robust relational schemas for billing.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548640" y="3776472"/>
            <a:ext cx="5029200" cy="7863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548640" y="3776472"/>
            <a:ext cx="54864" cy="786384"/>
          </a:xfrm>
          <a:prstGeom prst="rect">
            <a:avLst/>
          </a:prstGeom>
          <a:solidFill>
            <a:srgbClr val="0284C7"/>
          </a:solidFill>
          <a:ln w="12700">
            <a:solidFill>
              <a:srgbClr val="0284C7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31520" y="3849624"/>
            <a:ext cx="46634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284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DEPLOYMENT &amp; CI/CD INFRASTRUCTURE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731520" y="4032504"/>
            <a:ext cx="4663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Render Cloud (Dockerized Spring Boot Container) + GitHub Pages (Production PWA)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731520" y="4215384"/>
            <a:ext cx="4663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Fully automated continuous deployment with sub-second health monitors (/api/health) and automated failovers.</a:t>
            </a:r>
            <a:endParaRPr lang="en-US" sz="850" dirty="0"/>
          </a:p>
        </p:txBody>
      </p:sp>
      <p:sp>
        <p:nvSpPr>
          <p:cNvPr id="30" name="Shape 28"/>
          <p:cNvSpPr/>
          <p:nvPr/>
        </p:nvSpPr>
        <p:spPr>
          <a:xfrm>
            <a:off x="5806440" y="1143000"/>
            <a:ext cx="2788920" cy="3474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5806440" y="1143000"/>
            <a:ext cx="2788920" cy="54864"/>
          </a:xfrm>
          <a:prstGeom prst="rect">
            <a:avLst/>
          </a:prstGeom>
          <a:solidFill>
            <a:srgbClr val="1E40AF"/>
          </a:solidFill>
          <a:ln w="12700">
            <a:solidFill>
              <a:srgbClr val="1E40AF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989320" y="1280160"/>
            <a:ext cx="2423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40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ARCHITECTURAL BENCHMARKS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5989320" y="1645920"/>
            <a:ext cx="2423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F2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 150 ms</a:t>
            </a:r>
            <a:endParaRPr lang="en-US" sz="2000" dirty="0"/>
          </a:p>
        </p:txBody>
      </p:sp>
      <p:sp>
        <p:nvSpPr>
          <p:cNvPr id="34" name="Text 32"/>
          <p:cNvSpPr/>
          <p:nvPr/>
        </p:nvSpPr>
        <p:spPr>
          <a:xfrm>
            <a:off x="5989320" y="1965960"/>
            <a:ext cx="2423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STOMP WebSocket Alert Latency</a:t>
            </a:r>
            <a:endParaRPr lang="en-US" sz="950" dirty="0"/>
          </a:p>
        </p:txBody>
      </p:sp>
      <p:sp>
        <p:nvSpPr>
          <p:cNvPr id="35" name="Text 33"/>
          <p:cNvSpPr/>
          <p:nvPr/>
        </p:nvSpPr>
        <p:spPr>
          <a:xfrm>
            <a:off x="5989320" y="2340864"/>
            <a:ext cx="2423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F2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100 %</a:t>
            </a:r>
            <a:endParaRPr lang="en-US" sz="2000" dirty="0"/>
          </a:p>
        </p:txBody>
      </p:sp>
      <p:sp>
        <p:nvSpPr>
          <p:cNvPr id="36" name="Text 34"/>
          <p:cNvSpPr/>
          <p:nvPr/>
        </p:nvSpPr>
        <p:spPr>
          <a:xfrm>
            <a:off x="5989320" y="2660904"/>
            <a:ext cx="2423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Tenant Isolation per Society</a:t>
            </a:r>
            <a:endParaRPr lang="en-US" sz="950" dirty="0"/>
          </a:p>
        </p:txBody>
      </p:sp>
      <p:sp>
        <p:nvSpPr>
          <p:cNvPr id="37" name="Text 35"/>
          <p:cNvSpPr/>
          <p:nvPr/>
        </p:nvSpPr>
        <p:spPr>
          <a:xfrm>
            <a:off x="5989320" y="3035808"/>
            <a:ext cx="2423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F2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Trust</a:t>
            </a:r>
            <a:endParaRPr lang="en-US" sz="2000" dirty="0"/>
          </a:p>
        </p:txBody>
      </p:sp>
      <p:sp>
        <p:nvSpPr>
          <p:cNvPr id="38" name="Text 36"/>
          <p:cNvSpPr/>
          <p:nvPr/>
        </p:nvSpPr>
        <p:spPr>
          <a:xfrm>
            <a:off x="5989320" y="3355848"/>
            <a:ext cx="2423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15-min Rotating JWT Access Tokens</a:t>
            </a:r>
            <a:endParaRPr lang="en-US" sz="950" dirty="0"/>
          </a:p>
        </p:txBody>
      </p:sp>
      <p:sp>
        <p:nvSpPr>
          <p:cNvPr id="39" name="Text 37"/>
          <p:cNvSpPr/>
          <p:nvPr/>
        </p:nvSpPr>
        <p:spPr>
          <a:xfrm>
            <a:off x="5989320" y="3730752"/>
            <a:ext cx="2423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F2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Offline First</a:t>
            </a:r>
            <a:endParaRPr lang="en-US" sz="2000" dirty="0"/>
          </a:p>
        </p:txBody>
      </p:sp>
      <p:sp>
        <p:nvSpPr>
          <p:cNvPr id="40" name="Text 38"/>
          <p:cNvSpPr/>
          <p:nvPr/>
        </p:nvSpPr>
        <p:spPr>
          <a:xfrm>
            <a:off x="5989320" y="4050792"/>
            <a:ext cx="2423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Auto-syncing LocalStorage Queue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1E40AF"/>
          </a:solidFill>
          <a:ln w="12700">
            <a:solidFill>
              <a:srgbClr val="1E40A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219456"/>
            <a:ext cx="5486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E40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03. OPERATIONAL COMMAND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548640" y="420624"/>
            <a:ext cx="8046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2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Executive Admin Dashboard &amp; Analytics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548640" y="768096"/>
            <a:ext cx="8046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Comprehensive Centralized Command Center for Society Administrators &amp; Committee Members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548640" y="1005840"/>
            <a:ext cx="8046720" cy="9144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48640" y="4754880"/>
            <a:ext cx="8046720" cy="9144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4800600"/>
            <a:ext cx="5943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GateSync — Smart Society Security System  |  Arpitsinh Thakor (23SE02IE040)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6583680" y="4800600"/>
            <a:ext cx="2011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1E40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SCHOOL OF ENGINEERING  •  SLIDE 4 / 12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548640" y="1143000"/>
            <a:ext cx="3794760" cy="3474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48640" y="1143000"/>
            <a:ext cx="73152" cy="3474720"/>
          </a:xfrm>
          <a:prstGeom prst="rect">
            <a:avLst/>
          </a:prstGeom>
          <a:solidFill>
            <a:srgbClr val="1E40AF"/>
          </a:solidFill>
          <a:ln w="12700">
            <a:solidFill>
              <a:srgbClr val="1E40A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77240" y="1280160"/>
            <a:ext cx="3429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40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FUNCTIONALITY &amp; WORKFLOW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777240" y="1554480"/>
            <a:ext cx="3429000" cy="2926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Real-Time Campus Metrics:
</a:t>
            </a:r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 KPI cards monitoring registered residential units, active residents, on-duty security staff, and monthly billing totals.
</a:t>
            </a:r>
            <a:pPr indent="0" marL="0">
              <a:buNone/>
            </a:pPr>
            <a:r>
              <a:rPr lang="en-US" sz="8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Live Gatehouse Traffic Feed:
</a:t>
            </a:r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Streaming monitor of active gate entries, pending resident approvals, and recent checkouts with sub-second WebSocket synchronization.
</a:t>
            </a:r>
            <a:pPr indent="0" marL="0">
              <a:buNone/>
            </a:pPr>
            <a:r>
              <a:rPr lang="en-US" sz="8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Rapid Operational Shortcuts:
</a:t>
            </a:r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1-tap access to visitor registries, staff management, resident directory, maintenance ledger, and campus broadcast dispatches.
</a:t>
            </a:r>
            <a:pPr indent="0" marL="0">
              <a:buNone/>
            </a:pPr>
            <a:r>
              <a:rPr lang="en-US" sz="8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Multi-Tenant Scoping:
</a:t>
            </a:r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Strict role-based isolation guarantees that committee members only view statistics belonging to their society complex.
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4526280" y="1143000"/>
            <a:ext cx="4069080" cy="3474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pic>
        <p:nvPicPr>
          <p:cNvPr id="15" name="Image 0" descr="D:\Projects\GATESYNC\screenshots\actual_gatesync_dashboard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617720" y="1234440"/>
            <a:ext cx="3886200" cy="329184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1E40AF"/>
          </a:solidFill>
          <a:ln w="12700">
            <a:solidFill>
              <a:srgbClr val="1E40A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219456"/>
            <a:ext cx="5486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E40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04. GATEHOUSE OPERATIONS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548640" y="420624"/>
            <a:ext cx="8046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2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Guard Desk Terminal &amp; Fast Visitor Ingress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548640" y="768096"/>
            <a:ext cx="8046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Optimized High-Speed Interface Designed for Rapid Tablet and Gatehouse Terminal Input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548640" y="1005840"/>
            <a:ext cx="8046720" cy="9144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48640" y="4754880"/>
            <a:ext cx="8046720" cy="9144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4800600"/>
            <a:ext cx="5943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GateSync — Smart Society Security System  |  Arpitsinh Thakor (23SE02IE040)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6583680" y="4800600"/>
            <a:ext cx="2011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1E40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SCHOOL OF ENGINEERING  •  SLIDE 5 / 12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548640" y="1143000"/>
            <a:ext cx="3794760" cy="3474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48640" y="1143000"/>
            <a:ext cx="73152" cy="3474720"/>
          </a:xfrm>
          <a:prstGeom prst="rect">
            <a:avLst/>
          </a:prstGeom>
          <a:solidFill>
            <a:srgbClr val="1E40AF"/>
          </a:solidFill>
          <a:ln w="12700">
            <a:solidFill>
              <a:srgbClr val="1E40A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77240" y="1280160"/>
            <a:ext cx="3429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40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FUNCTIONALITY &amp; WORKFLOW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777240" y="1554480"/>
            <a:ext cx="3429000" cy="2926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Swift Data Capture:
</a:t>
            </a:r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Guards register visitor full name, mobile number, target flat unit, vehicle plate, and visit category in under 15 seconds.
</a:t>
            </a:r>
            <a:pPr indent="0" marL="0">
              <a:buNone/>
            </a:pPr>
            <a:r>
              <a:rPr lang="en-US" sz="8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Auto-Complete Resident Search:
</a:t>
            </a:r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Instant dynamic lookup by flat number (e.g., A-101) or resident name eliminates manual telephone book lookups.
</a:t>
            </a:r>
            <a:pPr indent="0" marL="0">
              <a:buNone/>
            </a:pPr>
            <a:r>
              <a:rPr lang="en-US" sz="8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Instant Push Notification Dispatch:
</a:t>
            </a:r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Submitting entry automatically dispatches a real-time STOMP WebSocket notification to the resident smartphone.
</a:t>
            </a:r>
            <a:pPr indent="0" marL="0">
              <a:buNone/>
            </a:pPr>
            <a:r>
              <a:rPr lang="en-US" sz="8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Live Entry Queue Feedback:
</a:t>
            </a:r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Guards view real-time decision updates (Pending, Approved, Denied) directly on screen without leaving their post.
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4526280" y="1143000"/>
            <a:ext cx="4069080" cy="3474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pic>
        <p:nvPicPr>
          <p:cNvPr id="15" name="Image 0" descr="D:\Projects\GATESYNC\screenshots\fresh_3_guard_des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617720" y="1234440"/>
            <a:ext cx="3886200" cy="329184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1E40AF"/>
          </a:solidFill>
          <a:ln w="12700">
            <a:solidFill>
              <a:srgbClr val="1E40A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219456"/>
            <a:ext cx="5486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E40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05. RESIDENT VERIFICATION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548640" y="420624"/>
            <a:ext cx="8046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2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Resident Real-Time Alert &amp; 1-Tap Remote Approval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548640" y="768096"/>
            <a:ext cx="8046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Instant Push Notification Modal Connecting Gate Arrival Directly to Resident Smartphone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548640" y="1005840"/>
            <a:ext cx="8046720" cy="9144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48640" y="4754880"/>
            <a:ext cx="8046720" cy="9144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4800600"/>
            <a:ext cx="5943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GateSync — Smart Society Security System  |  Arpitsinh Thakor (23SE02IE040)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6583680" y="4800600"/>
            <a:ext cx="2011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1E40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SCHOOL OF ENGINEERING  •  SLIDE 6 / 12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548640" y="1143000"/>
            <a:ext cx="3794760" cy="3474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48640" y="1143000"/>
            <a:ext cx="73152" cy="3474720"/>
          </a:xfrm>
          <a:prstGeom prst="rect">
            <a:avLst/>
          </a:prstGeom>
          <a:solidFill>
            <a:srgbClr val="1E40AF"/>
          </a:solidFill>
          <a:ln w="12700">
            <a:solidFill>
              <a:srgbClr val="1E40A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77240" y="1280160"/>
            <a:ext cx="3429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40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FUNCTIONALITY &amp; WORKFLOW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777240" y="1554480"/>
            <a:ext cx="3429000" cy="2926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Interactive Alert Modal:
</a:t>
            </a:r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Instantaneous pop-up modal appears on resident device with an audible arrival chime the moment guard logs the visitor.
</a:t>
            </a:r>
            <a:pPr indent="0" marL="0">
              <a:buNone/>
            </a:pPr>
            <a:r>
              <a:rPr lang="en-US" sz="8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Identity &amp; Arrival Details:
</a:t>
            </a:r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Presents visitor photo, full name, visit category, entry gate ID, and vehicle registration for complete transparency.
</a:t>
            </a:r>
            <a:pPr indent="0" marL="0">
              <a:buNone/>
            </a:pPr>
            <a:r>
              <a:rPr lang="en-US" sz="8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1-Tap Binary Decision:
</a:t>
            </a:r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Resident taps Approve Entry (Green) to open the barrier or Deny Entry (Red) with optional reason sent back to the guard.
</a:t>
            </a:r>
            <a:pPr indent="0" marL="0">
              <a:buNone/>
            </a:pPr>
            <a:r>
              <a:rPr lang="en-US" sz="8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Atomic Concurrency Guard:
</a:t>
            </a:r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Server-side conflict protection (HTTP 409) prevents conflicting decisions if multiple family members open the alert.
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4526280" y="1143000"/>
            <a:ext cx="4069080" cy="3474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pic>
        <p:nvPicPr>
          <p:cNvPr id="15" name="Image 0" descr="D:\Projects\GATESYNC\screenshots\fresh_fig_8_3_arrival_aler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617720" y="1234440"/>
            <a:ext cx="3886200" cy="329184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1E40AF"/>
          </a:solidFill>
          <a:ln w="12700">
            <a:solidFill>
              <a:srgbClr val="1E40A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219456"/>
            <a:ext cx="5486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E40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06. LOGISTICS INGRESS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548640" y="420624"/>
            <a:ext cx="8046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2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1-Tap Fast Logistics &amp; Delivery Clearance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548640" y="768096"/>
            <a:ext cx="8046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Eliminating Typing Bottlenecks for High-Volume E-Commerce Delivery Personnel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548640" y="1005840"/>
            <a:ext cx="8046720" cy="9144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48640" y="4754880"/>
            <a:ext cx="8046720" cy="9144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4800600"/>
            <a:ext cx="5943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GateSync — Smart Society Security System  |  Arpitsinh Thakor (23SE02IE040)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6583680" y="4800600"/>
            <a:ext cx="2011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1E40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SCHOOL OF ENGINEERING  •  SLIDE 7 / 12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548640" y="1143000"/>
            <a:ext cx="3794760" cy="3474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48640" y="1143000"/>
            <a:ext cx="73152" cy="3474720"/>
          </a:xfrm>
          <a:prstGeom prst="rect">
            <a:avLst/>
          </a:prstGeom>
          <a:solidFill>
            <a:srgbClr val="1E40AF"/>
          </a:solidFill>
          <a:ln w="12700">
            <a:solidFill>
              <a:srgbClr val="1E40A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77240" y="1280160"/>
            <a:ext cx="3429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40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FUNCTIONALITY &amp; WORKFLOW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777240" y="1554480"/>
            <a:ext cx="3429000" cy="2926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Dedicated Provider Presets:
</a:t>
            </a:r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Instant 1-tap buttons for Swiggy, Zomato, Amazon, Blinkit, and Flipkart eliminate tedious keyboard entry.
</a:t>
            </a:r>
            <a:pPr indent="0" marL="0">
              <a:buNone/>
            </a:pPr>
            <a:r>
              <a:rPr lang="en-US" sz="8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Peak Delivery Ingress Speed:
</a:t>
            </a:r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Reduces courier entry processing from 2 minutes down to under 5 seconds per delivery executive.
</a:t>
            </a:r>
            <a:pPr indent="0" marL="0">
              <a:buNone/>
            </a:pPr>
            <a:r>
              <a:rPr lang="en-US" sz="8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Doorstep vs Gate Delivery Rules:
</a:t>
            </a:r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Residents specify whether parcels are pre-approved to the door or must be left at the gate security desk.
</a:t>
            </a:r>
            <a:pPr indent="0" marL="0">
              <a:buNone/>
            </a:pPr>
            <a:r>
              <a:rPr lang="en-US" sz="8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Tamper-Evident Courier Log:
</a:t>
            </a:r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Automatically logs delivery company name, parcel target flat, timestamp, and guard badge ID in the database.
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4526280" y="1143000"/>
            <a:ext cx="4069080" cy="3474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pic>
        <p:nvPicPr>
          <p:cNvPr id="15" name="Image 0" descr="D:\Projects\GATESYNC\screenshots\fresh_real_quick_delivery_moda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617720" y="1234440"/>
            <a:ext cx="3886200" cy="329184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1E40AF"/>
          </a:solidFill>
          <a:ln w="12700">
            <a:solidFill>
              <a:srgbClr val="1E40A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219456"/>
            <a:ext cx="5486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E40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07. GUEST AUTOMATION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548640" y="420624"/>
            <a:ext cx="8046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2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Pre-Approved Guest Passes &amp; QR Code Scanner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548640" y="768096"/>
            <a:ext cx="8046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Self-Serve Digital Invitations with Fast Optical Camera Verification at the Gate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548640" y="1005840"/>
            <a:ext cx="8046720" cy="9144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48640" y="4754880"/>
            <a:ext cx="8046720" cy="9144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4800600"/>
            <a:ext cx="5943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GateSync — Smart Society Security System  |  Arpitsinh Thakor (23SE02IE040)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6583680" y="4800600"/>
            <a:ext cx="2011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1E40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SCHOOL OF ENGINEERING  •  SLIDE 8 / 12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548640" y="1143000"/>
            <a:ext cx="3794760" cy="3474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48640" y="1143000"/>
            <a:ext cx="73152" cy="3474720"/>
          </a:xfrm>
          <a:prstGeom prst="rect">
            <a:avLst/>
          </a:prstGeom>
          <a:solidFill>
            <a:srgbClr val="1E40AF"/>
          </a:solidFill>
          <a:ln w="12700">
            <a:solidFill>
              <a:srgbClr val="1E40A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77240" y="1280160"/>
            <a:ext cx="3429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40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FUNCTIONALITY &amp; WORKFLOW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777240" y="1554480"/>
            <a:ext cx="3429000" cy="2926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Resident Self-Service Creation:
</a:t>
            </a:r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Residents generate guest entry passes in advance with customized valid-from and valid-until date/time windows.
</a:t>
            </a:r>
            <a:pPr indent="0" marL="0">
              <a:buNone/>
            </a:pPr>
            <a:r>
              <a:rPr lang="en-US" sz="8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Cryptographic 6-Digit OTP &amp; QR:
</a:t>
            </a:r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generated pass embeds a unique cryptographic 6-digit numeric token and scannable high-contrast QR code.
</a:t>
            </a:r>
            <a:pPr indent="0" marL="0">
              <a:buNone/>
            </a:pPr>
            <a:r>
              <a:rPr lang="en-US" sz="8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1-Click WhatsApp Sharing:
</a:t>
            </a:r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Pre-formatted invitation message with pass link and QR code is sent directly to guests via WhatsApp.
</a:t>
            </a:r>
            <a:pPr indent="0" marL="0">
              <a:buNone/>
            </a:pPr>
            <a:r>
              <a:rPr lang="en-US" sz="8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Optical Camera Scanner:
</a:t>
            </a:r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Gatekeeper terminal scans guest QR or enters the 6-digit OTP for instant 2-second automated gate clearance.
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4526280" y="1143000"/>
            <a:ext cx="4069080" cy="3474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pic>
        <p:nvPicPr>
          <p:cNvPr id="15" name="Image 0" descr="D:\Projects\GATESYNC\screenshots\fresh_pass_scanner_moda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617720" y="1234440"/>
            <a:ext cx="3886200" cy="329184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1E40AF"/>
          </a:solidFill>
          <a:ln w="12700">
            <a:solidFill>
              <a:srgbClr val="1E40A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219456"/>
            <a:ext cx="5486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E40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08. SECURITY GOVERNANCE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548640" y="420624"/>
            <a:ext cx="8046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2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Visitor Registry &amp; Historical Security Logs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548640" y="768096"/>
            <a:ext cx="8046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 Tamper-Proof Audit Trail of Campus Traffic, Parking &amp; Checkout Timestamps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548640" y="1005840"/>
            <a:ext cx="8046720" cy="9144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48640" y="4754880"/>
            <a:ext cx="8046720" cy="9144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4800600"/>
            <a:ext cx="5943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GateSync — Smart Society Security System  |  Arpitsinh Thakor (23SE02IE040)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6583680" y="4800600"/>
            <a:ext cx="2011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1E40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SCHOOL OF ENGINEERING  •  SLIDE 9 / 12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548640" y="1143000"/>
            <a:ext cx="3794760" cy="3474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48640" y="1143000"/>
            <a:ext cx="73152" cy="3474720"/>
          </a:xfrm>
          <a:prstGeom prst="rect">
            <a:avLst/>
          </a:prstGeom>
          <a:solidFill>
            <a:srgbClr val="1E40AF"/>
          </a:solidFill>
          <a:ln w="12700">
            <a:solidFill>
              <a:srgbClr val="1E40A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77240" y="1280160"/>
            <a:ext cx="3429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40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FUNCTIONALITY &amp; WORKFLOW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777240" y="1554480"/>
            <a:ext cx="3429000" cy="2926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Comprehensive Live Registry:
</a:t>
            </a:r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Filterable, searchable ledger tracking visitor name, contact number, vehicle plate, arrival gate, and host flat.
</a:t>
            </a:r>
            <a:pPr indent="0" marL="0">
              <a:buNone/>
            </a:pPr>
            <a:r>
              <a:rPr lang="en-US" sz="8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Real-Time Status Badges:
</a:t>
            </a:r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Color-coded visual status tracking: INSIDE (currently on campus), CHECKED_OUT (departed), or REJECTED.
</a:t>
            </a:r>
            <a:pPr indent="0" marL="0">
              <a:buNone/>
            </a:pPr>
            <a:r>
              <a:rPr lang="en-US" sz="8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1-Tap Gate Checkout:
</a:t>
            </a:r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Guards log departure with a single tap, recording exact exit timestamps and calculating total stay duration.
</a:t>
            </a:r>
            <a:pPr indent="0" marL="0">
              <a:buNone/>
            </a:pPr>
            <a:r>
              <a:rPr lang="en-US" sz="8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Auditing &amp; Police Incident Export:
</a:t>
            </a:r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Historical logs are exportable for society committee reviews, incident investigations, or local authorities.
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4526280" y="1143000"/>
            <a:ext cx="4069080" cy="3474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pic>
        <p:nvPicPr>
          <p:cNvPr id="15" name="Image 0" descr="D:\Projects\GATESYNC\screenshots\fresh_2_visitor_registr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617720" y="1234440"/>
            <a:ext cx="3886200" cy="329184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1E40AF"/>
          </a:solidFill>
          <a:ln w="12700">
            <a:solidFill>
              <a:srgbClr val="1E40A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219456"/>
            <a:ext cx="5486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E40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09. FINANCIAL GOVERNANCE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548640" y="420624"/>
            <a:ext cx="8046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2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Society Maintenance Billing &amp; Accounting Ledger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548640" y="768096"/>
            <a:ext cx="8046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Dues Calculation, Payment Status Tracking &amp; Community Issue Helpdesk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548640" y="1005840"/>
            <a:ext cx="8046720" cy="9144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48640" y="4754880"/>
            <a:ext cx="8046720" cy="9144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4800600"/>
            <a:ext cx="5943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GateSync — Smart Society Security System  |  Arpitsinh Thakor (23SE02IE040)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6583680" y="4800600"/>
            <a:ext cx="2011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1E40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SCHOOL OF ENGINEERING  •  SLIDE 10 / 12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548640" y="1143000"/>
            <a:ext cx="3794760" cy="3474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48640" y="1143000"/>
            <a:ext cx="73152" cy="3474720"/>
          </a:xfrm>
          <a:prstGeom prst="rect">
            <a:avLst/>
          </a:prstGeom>
          <a:solidFill>
            <a:srgbClr val="1E40AF"/>
          </a:solidFill>
          <a:ln w="12700">
            <a:solidFill>
              <a:srgbClr val="1E40A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77240" y="1280160"/>
            <a:ext cx="3429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40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FUNCTIONALITY &amp; WORKFLOW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777240" y="1554480"/>
            <a:ext cx="3429000" cy="2926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Digital Dues Management:
</a:t>
            </a:r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Maintains flat-wise monthly maintenance bills with itemized breakdowns for water, security, sinking funds, and parking.
</a:t>
            </a:r>
            <a:pPr indent="0" marL="0">
              <a:buNone/>
            </a:pPr>
            <a:r>
              <a:rPr lang="en-US" sz="8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Real-Time Payment Tracking:
</a:t>
            </a:r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Instant visual classification of Paid, Pending, and Overdue flat accounts across all society blocks and wings.
</a:t>
            </a:r>
            <a:pPr indent="0" marL="0">
              <a:buNone/>
            </a:pPr>
            <a:r>
              <a:rPr lang="en-US" sz="8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Printable Itemized PDF Invoices:
</a:t>
            </a:r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Residents and administrators can view and print professional digital PDF invoices with detailed transaction logs.
</a:t>
            </a:r>
            <a:pPr indent="0" marL="0">
              <a:buNone/>
            </a:pPr>
            <a:r>
              <a:rPr lang="en-US" sz="8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Community Helpdesk Integration:
</a:t>
            </a:r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Integrated problem ticketing module allows residents to file repair tickets (plumbing, electrical) with real-time status.
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4526280" y="1143000"/>
            <a:ext cx="4069080" cy="3474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pic>
        <p:nvPicPr>
          <p:cNvPr id="15" name="Image 0" descr="D:\Projects\GATESYNC\screenshots\fresh_3_maintenance_billin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617720" y="1234440"/>
            <a:ext cx="3886200" cy="329184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1E40AF"/>
          </a:solidFill>
          <a:ln w="12700">
            <a:solidFill>
              <a:srgbClr val="1E40A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219456"/>
            <a:ext cx="5486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E40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10. SECURITY &amp; RESILIENCE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548640" y="420624"/>
            <a:ext cx="8046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2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Zero-Trust Security &amp; Offline PWA Architecture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548640" y="768096"/>
            <a:ext cx="8046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Hardened Protection, Multi-Tenant Boundary Isolation, and Continuous Offline Operation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548640" y="1005840"/>
            <a:ext cx="8046720" cy="9144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48640" y="4754880"/>
            <a:ext cx="8046720" cy="9144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4800600"/>
            <a:ext cx="5943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GateSync — Smart Society Security System  |  Arpitsinh Thakor (23SE02IE040)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6583680" y="4800600"/>
            <a:ext cx="2011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1E40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SCHOOL OF ENGINEERING  •  SLIDE 11 / 12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548640" y="1143000"/>
            <a:ext cx="2514600" cy="3474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48640" y="1143000"/>
            <a:ext cx="2514600" cy="45720"/>
          </a:xfrm>
          <a:prstGeom prst="rect">
            <a:avLst/>
          </a:prstGeom>
          <a:solidFill>
            <a:srgbClr val="1E40AF"/>
          </a:solidFill>
          <a:ln w="12700">
            <a:solidFill>
              <a:srgbClr val="1E40A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85800" y="1280160"/>
            <a:ext cx="2240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40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ZERO-TRUST JWT SECURITY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685800" y="1600200"/>
            <a:ext cx="2240280" cy="2880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15-Minute rotating JWT access tokens kept in-memory (XSS immune).
</a:t>
            </a:r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Secure HttpOnly SameSite=Strict cookies for refresh tokens.
</a:t>
            </a:r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BCrypt salted password hashing with forced first-login password update.
</a:t>
            </a:r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Strict Role-Based Access Control (RBAC): ADMIN, RESIDENT, and GUARD.
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3337560" y="1143000"/>
            <a:ext cx="2514600" cy="3474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337560" y="1143000"/>
            <a:ext cx="2514600" cy="45720"/>
          </a:xfrm>
          <a:prstGeom prst="rect">
            <a:avLst/>
          </a:prstGeom>
          <a:solidFill>
            <a:srgbClr val="0F2942"/>
          </a:solidFill>
          <a:ln w="12700">
            <a:solidFill>
              <a:srgbClr val="0F2942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474720" y="1280160"/>
            <a:ext cx="2240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2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OFFLINE-FIRST PWA RESILIENCE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3474720" y="1600200"/>
            <a:ext cx="2240280" cy="2880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Service Worker precaches assets for 100% offline application startup.
</a:t>
            </a:r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Offline Transaction Queue stores visitor entries in LocalStorage.
</a:t>
            </a:r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Automatic synchronization immediately when network reconnects.
</a:t>
            </a:r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Segregated dual-database design: In-memory mapping + MongoDB Atlas.
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6126480" y="1143000"/>
            <a:ext cx="2514600" cy="3474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126480" y="1143000"/>
            <a:ext cx="2514600" cy="4572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263640" y="1280160"/>
            <a:ext cx="2240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AUDITING &amp; EMERGENCY SOS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6263640" y="1600200"/>
            <a:ext cx="2240280" cy="2880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Immutable audit logging capturing actor ID, IP address, and payload.
</a:t>
            </a:r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2-Second deduplication key window prevents duplicate alert spam.
</a:t>
            </a:r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100% multi-tenant data isolation ensures zero data leaks across societies.
</a:t>
            </a:r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Emergency SOS trigger sounds immediate guard desk alarm and siren.
</a:t>
            </a:r>
            <a:endParaRPr lang="en-US" sz="8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1E40AF"/>
          </a:solidFill>
          <a:ln w="12700">
            <a:solidFill>
              <a:srgbClr val="1E40A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411480"/>
            <a:ext cx="8046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0F2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3800" dirty="0"/>
          </a:p>
        </p:txBody>
      </p:sp>
      <p:sp>
        <p:nvSpPr>
          <p:cNvPr id="4" name="Text 2"/>
          <p:cNvSpPr/>
          <p:nvPr/>
        </p:nvSpPr>
        <p:spPr>
          <a:xfrm>
            <a:off x="548640" y="1051560"/>
            <a:ext cx="8046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40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GateSync — Smart Society Security Platform  |  Evaluation &amp; Discussion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1417320"/>
            <a:ext cx="8046720" cy="1645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1417320"/>
            <a:ext cx="73152" cy="1645920"/>
          </a:xfrm>
          <a:prstGeom prst="rect">
            <a:avLst/>
          </a:prstGeom>
          <a:solidFill>
            <a:srgbClr val="1E40AF"/>
          </a:solidFill>
          <a:ln w="12700">
            <a:solidFill>
              <a:srgbClr val="1E40A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" y="1554480"/>
            <a:ext cx="7589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40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DELIVERABLES &amp; PRODUCTION CLOUD ENDPOINTS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777240" y="1874520"/>
            <a:ext cx="758952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Live Progressive Web App (PWA):  </a:t>
            </a:r>
            <a:pPr indent="0" marL="0">
              <a:buNone/>
            </a:pPr>
            <a:r>
              <a:rPr lang="en-US" sz="950" dirty="0">
                <a:solidFill>
                  <a:srgbClr val="1E40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https://arpitthakor28.github.io/sms1/
</a:t>
            </a:r>
            <a:pPr indent="0" marL="0">
              <a:buNone/>
            </a:pPr>
            <a:r>
              <a:rPr lang="en-US" sz="9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Live Cloud Backend API (Render):  </a:t>
            </a:r>
            <a:pPr indent="0" marL="0">
              <a:buNone/>
            </a:pPr>
            <a:r>
              <a:rPr lang="en-US" sz="950" dirty="0">
                <a:solidFill>
                  <a:srgbClr val="1E40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https://sms1-c9sj.onrender.com
</a:t>
            </a:r>
            <a:pPr indent="0" marL="0">
              <a:buNone/>
            </a:pPr>
            <a:r>
              <a:rPr lang="en-US" sz="9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Cloud Nap Stopper / Health Check:  </a:t>
            </a:r>
            <a:pPr indent="0" marL="0">
              <a:buNone/>
            </a:pPr>
            <a:r>
              <a:rPr lang="en-US" sz="950" dirty="0">
                <a:solidFill>
                  <a:srgbClr val="1E40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https://sms1-c9sj.onrender.com/api/health
</a:t>
            </a:r>
            <a:pPr indent="0" marL="0">
              <a:buNone/>
            </a:pPr>
            <a:r>
              <a:rPr lang="en-US" sz="9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GitHub Source Code Repository:  </a:t>
            </a:r>
            <a:pPr indent="0" marL="0">
              <a:buNone/>
            </a:pPr>
            <a:r>
              <a:rPr lang="en-US" sz="950" dirty="0">
                <a:solidFill>
                  <a:srgbClr val="1E40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https://github.com/arpitthakor28/sms1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548640" y="3200400"/>
            <a:ext cx="8046720" cy="13258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48640" y="3200400"/>
            <a:ext cx="73152" cy="1325880"/>
          </a:xfrm>
          <a:prstGeom prst="rect">
            <a:avLst/>
          </a:prstGeom>
          <a:solidFill>
            <a:srgbClr val="0F2942"/>
          </a:solidFill>
          <a:ln w="12700">
            <a:solidFill>
              <a:srgbClr val="0F294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77240" y="3337560"/>
            <a:ext cx="402336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DEVELOPED BY
</a:t>
            </a:r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ARPITSINH THAKOR
</a:t>
            </a:r>
            <a:pPr indent="0" marL="0">
              <a:buNone/>
            </a:pPr>
            <a:r>
              <a:rPr lang="en-US" sz="1200" b="1" dirty="0">
                <a:solidFill>
                  <a:srgbClr val="1E40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Enrollment Number: 23SE02IE040
</a:t>
            </a:r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B.Tech in Information Technology &amp; Engineering
</a:t>
            </a:r>
            <a:pPr indent="0" marL="0">
              <a:buNone/>
            </a:pPr>
            <a:r>
              <a:rPr lang="en-US" sz="95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 Focus: Full Stack Development - Java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4937760" y="3337560"/>
            <a:ext cx="347472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DEPARTMENT &amp; INSTITUTION
</a:t>
            </a:r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School of Engineering
</a:t>
            </a:r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P. P. Savani University, Surat, Gujarat
</a:t>
            </a:r>
            <a:pPr indent="0" marL="0">
              <a:buNone/>
            </a:pPr>
            <a:r>
              <a:rPr lang="en-US" sz="1100" b="1" dirty="0">
                <a:solidFill>
                  <a:srgbClr val="1E40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Year Project  •  Academic Year 2026–2027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548640" y="4800600"/>
            <a:ext cx="8046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GATESYNC • Smart Residential Security Platform  |  All Rights Reserved © 2026–2027</a:t>
            </a:r>
            <a:endParaRPr lang="en-US" sz="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School of Engineering, P. P. Savani University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GATESYNC - Smart Residential Security &amp; Visitor Management Platform</dc:title>
  <dc:subject>PptxGenJS Presentation</dc:subject>
  <dc:creator>Arpitsinh Thakor (23SE02IE040)</dc:creator>
  <cp:lastModifiedBy>Arpitsinh Thakor (23SE02IE040)</cp:lastModifiedBy>
  <cp:revision>1</cp:revision>
  <dcterms:created xsi:type="dcterms:W3CDTF">2026-10-26T07:26:03Z</dcterms:created>
  <dcterms:modified xsi:type="dcterms:W3CDTF">2026-10-26T07:26:03Z</dcterms:modified>
</cp:coreProperties>
</file>