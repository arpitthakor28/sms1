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40AF"/>
          </a:solidFill>
          <a:ln w="12700">
            <a:solidFill>
              <a:srgbClr val="1E40AF"/>
            </a:solidFill>
            <a:prstDash val="solid"/>
          </a:ln>
        </p:spPr>
      </p:sp>
      <p:sp>
        <p:nvSpPr>
          <p:cNvPr id="3" name="Shape 1"/>
          <p:cNvSpPr/>
          <p:nvPr/>
        </p:nvSpPr>
        <p:spPr>
          <a:xfrm>
            <a:off x="548640" y="329184"/>
            <a:ext cx="45720" cy="201168"/>
          </a:xfrm>
          <a:prstGeom prst="rect">
            <a:avLst/>
          </a:prstGeom>
          <a:solidFill>
            <a:srgbClr val="1E40AF"/>
          </a:solidFill>
          <a:ln w="12700">
            <a:solidFill>
              <a:srgbClr val="1E40AF"/>
            </a:solidFill>
            <a:prstDash val="solid"/>
          </a:ln>
        </p:spPr>
      </p:sp>
      <p:sp>
        <p:nvSpPr>
          <p:cNvPr id="4" name="Text 2"/>
          <p:cNvSpPr/>
          <p:nvPr/>
        </p:nvSpPr>
        <p:spPr>
          <a:xfrm>
            <a:off x="658368" y="329184"/>
            <a:ext cx="5486400" cy="219456"/>
          </a:xfrm>
          <a:prstGeom prst="rect">
            <a:avLst/>
          </a:prstGeom>
          <a:noFill/>
          <a:ln/>
        </p:spPr>
        <p:txBody>
          <a:bodyPr wrap="square" rtlCol="0" anchor="ctr"/>
          <a:lstStyle/>
          <a:p>
            <a:pPr indent="0" marL="0">
              <a:buNone/>
            </a:pPr>
            <a:r>
              <a:rPr lang="en-US" sz="1050" b="1" dirty="0">
                <a:solidFill>
                  <a:srgbClr val="0F2942"/>
                </a:solidFill>
                <a:latin typeface="Calibri" pitchFamily="34" charset="0"/>
                <a:ea typeface="Calibri" pitchFamily="34" charset="-122"/>
                <a:cs typeface="Calibri" pitchFamily="34" charset="-120"/>
              </a:rPr>
              <a:t>P. P. SAVANI UNIVERSITY  •  SCHOOL OF ENGINEERING</a:t>
            </a:r>
            <a:endParaRPr lang="en-US" sz="1050" dirty="0"/>
          </a:p>
        </p:txBody>
      </p:sp>
      <p:pic>
        <p:nvPicPr>
          <p:cNvPr id="5" name="Image 0" descr="D:\Projects\GATESYNC\screenshots\ppsu_logo.png">    </p:cNvPr>
          <p:cNvPicPr>
            <a:picLocks noChangeAspect="1"/>
          </p:cNvPicPr>
          <p:nvPr/>
        </p:nvPicPr>
        <p:blipFill>
          <a:blip r:embed="rId1"/>
          <a:stretch>
            <a:fillRect/>
          </a:stretch>
        </p:blipFill>
        <p:spPr>
          <a:xfrm>
            <a:off x="7132320" y="274320"/>
            <a:ext cx="1463040" cy="594360"/>
          </a:xfrm>
          <a:prstGeom prst="rect">
            <a:avLst/>
          </a:prstGeom>
        </p:spPr>
      </p:pic>
      <p:sp>
        <p:nvSpPr>
          <p:cNvPr id="6" name="Text 3"/>
          <p:cNvSpPr/>
          <p:nvPr/>
        </p:nvSpPr>
        <p:spPr>
          <a:xfrm>
            <a:off x="548640" y="731520"/>
            <a:ext cx="8046720" cy="594360"/>
          </a:xfrm>
          <a:prstGeom prst="rect">
            <a:avLst/>
          </a:prstGeom>
          <a:noFill/>
          <a:ln/>
        </p:spPr>
        <p:txBody>
          <a:bodyPr wrap="square" rtlCol="0" anchor="ctr"/>
          <a:lstStyle/>
          <a:p>
            <a:pPr indent="0" marL="0">
              <a:buNone/>
            </a:pPr>
            <a:r>
              <a:rPr lang="en-US" sz="4000" b="1" dirty="0">
                <a:solidFill>
                  <a:srgbClr val="0F2942"/>
                </a:solidFill>
                <a:latin typeface="Calibri" pitchFamily="34" charset="0"/>
                <a:ea typeface="Calibri" pitchFamily="34" charset="-122"/>
                <a:cs typeface="Calibri" pitchFamily="34" charset="-120"/>
              </a:rPr>
              <a:t>GATESYNC</a:t>
            </a:r>
            <a:endParaRPr lang="en-US" sz="4000" dirty="0"/>
          </a:p>
        </p:txBody>
      </p:sp>
      <p:sp>
        <p:nvSpPr>
          <p:cNvPr id="7" name="Text 4"/>
          <p:cNvSpPr/>
          <p:nvPr/>
        </p:nvSpPr>
        <p:spPr>
          <a:xfrm>
            <a:off x="548640" y="1298448"/>
            <a:ext cx="8046720" cy="274320"/>
          </a:xfrm>
          <a:prstGeom prst="rect">
            <a:avLst/>
          </a:prstGeom>
          <a:noFill/>
          <a:ln/>
        </p:spPr>
        <p:txBody>
          <a:bodyPr wrap="square" rtlCol="0" anchor="ctr"/>
          <a:lstStyle/>
          <a:p>
            <a:pPr indent="0" marL="0">
              <a:buNone/>
            </a:pPr>
            <a:r>
              <a:rPr lang="en-US" sz="1500" b="1" dirty="0">
                <a:solidFill>
                  <a:srgbClr val="1E40AF"/>
                </a:solidFill>
                <a:latin typeface="Calibri" pitchFamily="34" charset="0"/>
                <a:ea typeface="Calibri" pitchFamily="34" charset="-122"/>
                <a:cs typeface="Calibri" pitchFamily="34" charset="-120"/>
              </a:rPr>
              <a:t>Smart Residential Society Security &amp; Visitor Management System</a:t>
            </a:r>
            <a:endParaRPr lang="en-US" sz="1500" dirty="0"/>
          </a:p>
        </p:txBody>
      </p:sp>
      <p:sp>
        <p:nvSpPr>
          <p:cNvPr id="8" name="Text 5"/>
          <p:cNvSpPr/>
          <p:nvPr/>
        </p:nvSpPr>
        <p:spPr>
          <a:xfrm>
            <a:off x="548640" y="1609344"/>
            <a:ext cx="8046720" cy="502920"/>
          </a:xfrm>
          <a:prstGeom prst="rect">
            <a:avLst/>
          </a:prstGeom>
          <a:noFill/>
          <a:ln/>
        </p:spPr>
        <p:txBody>
          <a:bodyPr wrap="square" rtlCol="0" anchor="ctr"/>
          <a:lstStyle/>
          <a:p>
            <a:pPr indent="0" marL="0">
              <a:buNone/>
            </a:pPr>
            <a:r>
              <a:rPr lang="en-US" sz="1000" dirty="0">
                <a:solidFill>
                  <a:srgbClr val="334155"/>
                </a:solidFill>
                <a:latin typeface="Calibri" pitchFamily="34" charset="0"/>
                <a:ea typeface="Calibri" pitchFamily="34" charset="-122"/>
                <a:cs typeface="Calibri" pitchFamily="34" charset="-120"/>
              </a:rPr>
              <a:t>A full-stack Progressive Web Application (PWA) designed to modernize residential community security operations. Replaces manual paper registers with real-time mobile push notifications for residents, 1-tap courier clearance, pre-approved digital QR guest passes, and society maintenance accounting.</a:t>
            </a:r>
            <a:endParaRPr lang="en-US" sz="1000" dirty="0"/>
          </a:p>
        </p:txBody>
      </p:sp>
      <p:sp>
        <p:nvSpPr>
          <p:cNvPr id="9" name="Shape 6"/>
          <p:cNvSpPr/>
          <p:nvPr/>
        </p:nvSpPr>
        <p:spPr>
          <a:xfrm>
            <a:off x="548640" y="2240280"/>
            <a:ext cx="8046720" cy="2286000"/>
          </a:xfrm>
          <a:prstGeom prst="rect">
            <a:avLst/>
          </a:prstGeom>
          <a:solidFill>
            <a:srgbClr val="FFFFFF"/>
          </a:solidFill>
          <a:ln w="12700">
            <a:solidFill>
              <a:srgbClr val="E2E8F0"/>
            </a:solidFill>
            <a:prstDash val="solid"/>
          </a:ln>
        </p:spPr>
      </p:sp>
      <p:sp>
        <p:nvSpPr>
          <p:cNvPr id="10" name="Shape 7"/>
          <p:cNvSpPr/>
          <p:nvPr/>
        </p:nvSpPr>
        <p:spPr>
          <a:xfrm>
            <a:off x="548640" y="2240280"/>
            <a:ext cx="73152" cy="2286000"/>
          </a:xfrm>
          <a:prstGeom prst="rect">
            <a:avLst/>
          </a:prstGeom>
          <a:solidFill>
            <a:srgbClr val="0F2942"/>
          </a:solidFill>
          <a:ln w="12700">
            <a:solidFill>
              <a:srgbClr val="0F2942"/>
            </a:solidFill>
            <a:prstDash val="solid"/>
          </a:ln>
        </p:spPr>
      </p:sp>
      <p:sp>
        <p:nvSpPr>
          <p:cNvPr id="11" name="Text 8"/>
          <p:cNvSpPr/>
          <p:nvPr/>
        </p:nvSpPr>
        <p:spPr>
          <a:xfrm>
            <a:off x="777240" y="2377440"/>
            <a:ext cx="3840480" cy="2011680"/>
          </a:xfrm>
          <a:prstGeom prst="rect">
            <a:avLst/>
          </a:prstGeom>
          <a:noFill/>
          <a:ln/>
        </p:spPr>
        <p:txBody>
          <a:bodyPr wrap="square" rtlCol="0" anchor="ctr"/>
          <a:lstStyle/>
          <a:p>
            <a:pPr indent="0" marL="0">
              <a:buNone/>
            </a:pPr>
            <a:r>
              <a:rPr lang="en-US" sz="850" b="1" dirty="0">
                <a:solidFill>
                  <a:srgbClr val="64748B"/>
                </a:solidFill>
                <a:latin typeface="Calibri" pitchFamily="34" charset="0"/>
                <a:ea typeface="Calibri" pitchFamily="34" charset="-122"/>
                <a:cs typeface="Calibri" pitchFamily="34" charset="-120"/>
              </a:rPr>
              <a:t>STUDENT DEVELOPER
</a:t>
            </a:r>
            <a:pPr indent="0" marL="0">
              <a:buNone/>
            </a:pPr>
            <a:r>
              <a:rPr lang="en-US" sz="1600" b="1" dirty="0">
                <a:solidFill>
                  <a:srgbClr val="0F172A"/>
                </a:solidFill>
                <a:latin typeface="Calibri" pitchFamily="34" charset="0"/>
                <a:ea typeface="Calibri" pitchFamily="34" charset="-122"/>
                <a:cs typeface="Calibri" pitchFamily="34" charset="-120"/>
              </a:rPr>
              <a:t>ARPITSINH THAKOR
</a:t>
            </a:r>
            <a:pPr indent="0" marL="0">
              <a:buNone/>
            </a:pPr>
            <a:r>
              <a:rPr lang="en-US" sz="850" b="1" dirty="0">
                <a:solidFill>
                  <a:srgbClr val="64748B"/>
                </a:solidFill>
                <a:latin typeface="Calibri" pitchFamily="34" charset="0"/>
                <a:ea typeface="Calibri" pitchFamily="34" charset="-122"/>
                <a:cs typeface="Calibri" pitchFamily="34" charset="-120"/>
              </a:rPr>
              <a:t>ENROLLMENT NUMBER
</a:t>
            </a:r>
            <a:pPr indent="0" marL="0">
              <a:buNone/>
            </a:pPr>
            <a:r>
              <a:rPr lang="en-US" sz="1400" b="1" dirty="0">
                <a:solidFill>
                  <a:srgbClr val="1E40AF"/>
                </a:solidFill>
                <a:latin typeface="Calibri" pitchFamily="34" charset="0"/>
                <a:ea typeface="Calibri" pitchFamily="34" charset="-122"/>
                <a:cs typeface="Calibri" pitchFamily="34" charset="-120"/>
              </a:rPr>
              <a:t>23SE02IE040
</a:t>
            </a:r>
            <a:pPr indent="0" marL="0">
              <a:buNone/>
            </a:pPr>
            <a:r>
              <a:rPr lang="en-US" sz="850" b="1" dirty="0">
                <a:solidFill>
                  <a:srgbClr val="64748B"/>
                </a:solidFill>
                <a:latin typeface="Calibri" pitchFamily="34" charset="0"/>
                <a:ea typeface="Calibri" pitchFamily="34" charset="-122"/>
                <a:cs typeface="Calibri" pitchFamily="34" charset="-120"/>
              </a:rPr>
              <a:t>DEGREE &amp; BRANCH
</a:t>
            </a:r>
            <a:pPr indent="0" marL="0">
              <a:buNone/>
            </a:pPr>
            <a:r>
              <a:rPr lang="en-US" sz="1100" b="1" dirty="0">
                <a:solidFill>
                  <a:srgbClr val="0F172A"/>
                </a:solidFill>
                <a:latin typeface="Calibri" pitchFamily="34" charset="0"/>
                <a:ea typeface="Calibri" pitchFamily="34" charset="-122"/>
                <a:cs typeface="Calibri" pitchFamily="34" charset="-120"/>
              </a:rPr>
              <a:t>B.Tech in Information Technology &amp; Engineering
</a:t>
            </a:r>
            <a:pPr indent="0" marL="0">
              <a:buNone/>
            </a:pPr>
            <a:r>
              <a:rPr lang="en-US" sz="1000" dirty="0">
                <a:solidFill>
                  <a:srgbClr val="334155"/>
                </a:solidFill>
                <a:latin typeface="Calibri" pitchFamily="34" charset="0"/>
                <a:ea typeface="Calibri" pitchFamily="34" charset="-122"/>
                <a:cs typeface="Calibri" pitchFamily="34" charset="-120"/>
              </a:rPr>
              <a:t>School of Engineering</a:t>
            </a:r>
            <a:endParaRPr lang="en-US" sz="850" dirty="0"/>
          </a:p>
        </p:txBody>
      </p:sp>
      <p:sp>
        <p:nvSpPr>
          <p:cNvPr id="12" name="Text 9"/>
          <p:cNvSpPr/>
          <p:nvPr/>
        </p:nvSpPr>
        <p:spPr>
          <a:xfrm>
            <a:off x="4846320" y="2377440"/>
            <a:ext cx="3566160" cy="2011680"/>
          </a:xfrm>
          <a:prstGeom prst="rect">
            <a:avLst/>
          </a:prstGeom>
          <a:noFill/>
          <a:ln/>
        </p:spPr>
        <p:txBody>
          <a:bodyPr wrap="square" rtlCol="0" anchor="ctr"/>
          <a:lstStyle/>
          <a:p>
            <a:pPr indent="0" marL="0">
              <a:buNone/>
            </a:pPr>
            <a:r>
              <a:rPr lang="en-US" sz="850" b="1" dirty="0">
                <a:solidFill>
                  <a:srgbClr val="64748B"/>
                </a:solidFill>
                <a:latin typeface="Calibri" pitchFamily="34" charset="0"/>
                <a:ea typeface="Calibri" pitchFamily="34" charset="-122"/>
                <a:cs typeface="Calibri" pitchFamily="34" charset="-120"/>
              </a:rPr>
              <a:t>INSTITUTION
</a:t>
            </a:r>
            <a:pPr indent="0" marL="0">
              <a:buNone/>
            </a:pPr>
            <a:r>
              <a:rPr lang="en-US" sz="1300" b="1" dirty="0">
                <a:solidFill>
                  <a:srgbClr val="0F172A"/>
                </a:solidFill>
                <a:latin typeface="Calibri" pitchFamily="34" charset="0"/>
                <a:ea typeface="Calibri" pitchFamily="34" charset="-122"/>
                <a:cs typeface="Calibri" pitchFamily="34" charset="-120"/>
              </a:rPr>
              <a:t>P. P. Savani University
</a:t>
            </a:r>
            <a:pPr indent="0" marL="0">
              <a:buNone/>
            </a:pPr>
            <a:r>
              <a:rPr lang="en-US" sz="950" dirty="0">
                <a:solidFill>
                  <a:srgbClr val="334155"/>
                </a:solidFill>
                <a:latin typeface="Calibri" pitchFamily="34" charset="0"/>
                <a:ea typeface="Calibri" pitchFamily="34" charset="-122"/>
                <a:cs typeface="Calibri" pitchFamily="34" charset="-120"/>
              </a:rPr>
              <a:t>Surat, Gujarat, India
</a:t>
            </a:r>
            <a:pPr indent="0" marL="0">
              <a:buNone/>
            </a:pPr>
            <a:r>
              <a:rPr lang="en-US" sz="850" b="1" dirty="0">
                <a:solidFill>
                  <a:srgbClr val="64748B"/>
                </a:solidFill>
                <a:latin typeface="Calibri" pitchFamily="34" charset="0"/>
                <a:ea typeface="Calibri" pitchFamily="34" charset="-122"/>
                <a:cs typeface="Calibri" pitchFamily="34" charset="-120"/>
              </a:rPr>
              <a:t>PROJECT PRESENTATION
</a:t>
            </a:r>
            <a:pPr indent="0" marL="0">
              <a:buNone/>
            </a:pPr>
            <a:r>
              <a:rPr lang="en-US" sz="1200" b="1" dirty="0">
                <a:solidFill>
                  <a:srgbClr val="0F172A"/>
                </a:solidFill>
                <a:latin typeface="Calibri" pitchFamily="34" charset="0"/>
                <a:ea typeface="Calibri" pitchFamily="34" charset="-122"/>
                <a:cs typeface="Calibri" pitchFamily="34" charset="-120"/>
              </a:rPr>
              <a:t>Major Engineering Project Presentation
</a:t>
            </a:r>
            <a:pPr indent="0" marL="0">
              <a:buNone/>
            </a:pPr>
            <a:r>
              <a:rPr lang="en-US" sz="1000" dirty="0">
                <a:solidFill>
                  <a:srgbClr val="334155"/>
                </a:solidFill>
                <a:latin typeface="Calibri" pitchFamily="34" charset="0"/>
                <a:ea typeface="Calibri" pitchFamily="34" charset="-122"/>
                <a:cs typeface="Calibri" pitchFamily="34" charset="-120"/>
              </a:rPr>
              <a:t>Academic Year 2025–2026
</a:t>
            </a:r>
            <a:pPr indent="0" marL="0">
              <a:buNone/>
            </a:pPr>
            <a:r>
              <a:rPr lang="en-US" sz="850" b="1" dirty="0">
                <a:solidFill>
                  <a:srgbClr val="64748B"/>
                </a:solidFill>
                <a:latin typeface="Calibri" pitchFamily="34" charset="0"/>
                <a:ea typeface="Calibri" pitchFamily="34" charset="-122"/>
                <a:cs typeface="Calibri" pitchFamily="34" charset="-120"/>
              </a:rPr>
              <a:t>TECHNOLOGY FOCUS
</a:t>
            </a:r>
            <a:pPr indent="0" marL="0">
              <a:buNone/>
            </a:pPr>
            <a:r>
              <a:rPr lang="en-US" sz="1300" b="1" dirty="0">
                <a:solidFill>
                  <a:srgbClr val="1E40AF"/>
                </a:solidFill>
                <a:latin typeface="Calibri" pitchFamily="34" charset="0"/>
                <a:ea typeface="Calibri" pitchFamily="34" charset="-122"/>
                <a:cs typeface="Calibri" pitchFamily="34" charset="-120"/>
              </a:rPr>
              <a:t>Full Stack Development - Java
</a:t>
            </a:r>
            <a:pPr indent="0" marL="0">
              <a:buNone/>
            </a:pPr>
            <a:r>
              <a:rPr lang="en-US" sz="950" dirty="0">
                <a:solidFill>
                  <a:srgbClr val="334155"/>
                </a:solidFill>
                <a:latin typeface="Calibri" pitchFamily="34" charset="0"/>
                <a:ea typeface="Calibri" pitchFamily="34" charset="-122"/>
                <a:cs typeface="Calibri" pitchFamily="34" charset="-120"/>
              </a:rPr>
              <a:t>Spring Boot 3 REST API &amp; React PWA Cloud Architecture</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1E40AF"/>
          </a:solidFill>
          <a:ln w="12700">
            <a:solidFill>
              <a:srgbClr val="1E40AF"/>
            </a:solidFill>
            <a:prstDash val="solid"/>
          </a:ln>
        </p:spPr>
      </p:sp>
      <p:sp>
        <p:nvSpPr>
          <p:cNvPr id="3" name="Text 1"/>
          <p:cNvSpPr/>
          <p:nvPr/>
        </p:nvSpPr>
        <p:spPr>
          <a:xfrm>
            <a:off x="548640" y="219456"/>
            <a:ext cx="5486400" cy="201168"/>
          </a:xfrm>
          <a:prstGeom prst="rect">
            <a:avLst/>
          </a:prstGeom>
          <a:noFill/>
          <a:ln/>
        </p:spPr>
        <p:txBody>
          <a:bodyPr wrap="square" rtlCol="0" anchor="ctr"/>
          <a:lstStyle/>
          <a:p>
            <a:pPr indent="0" marL="0">
              <a:buNone/>
            </a:pPr>
            <a:r>
              <a:rPr lang="en-US" sz="850" b="1" dirty="0">
                <a:solidFill>
                  <a:srgbClr val="1E40AF"/>
                </a:solidFill>
                <a:latin typeface="Calibri" pitchFamily="34" charset="0"/>
                <a:ea typeface="Calibri" pitchFamily="34" charset="-122"/>
                <a:cs typeface="Calibri" pitchFamily="34" charset="-120"/>
              </a:rPr>
              <a:t>SECTION 01  |  PROJECT BACKGROUND</a:t>
            </a:r>
            <a:endParaRPr lang="en-US" sz="850" dirty="0"/>
          </a:p>
        </p:txBody>
      </p:sp>
      <p:sp>
        <p:nvSpPr>
          <p:cNvPr id="4" name="Text 2"/>
          <p:cNvSpPr/>
          <p:nvPr/>
        </p:nvSpPr>
        <p:spPr>
          <a:xfrm>
            <a:off x="548640" y="420624"/>
            <a:ext cx="8046720" cy="347472"/>
          </a:xfrm>
          <a:prstGeom prst="rect">
            <a:avLst/>
          </a:prstGeom>
          <a:noFill/>
          <a:ln/>
        </p:spPr>
        <p:txBody>
          <a:bodyPr wrap="square" rtlCol="0" anchor="ctr"/>
          <a:lstStyle/>
          <a:p>
            <a:pPr indent="0" marL="0">
              <a:buNone/>
            </a:pPr>
            <a:r>
              <a:rPr lang="en-US" sz="1800" b="1" dirty="0">
                <a:solidFill>
                  <a:srgbClr val="0F2942"/>
                </a:solidFill>
                <a:latin typeface="Calibri" pitchFamily="34" charset="0"/>
                <a:ea typeface="Calibri" pitchFamily="34" charset="-122"/>
                <a:cs typeface="Calibri" pitchFamily="34" charset="-120"/>
              </a:rPr>
              <a:t>The Problem with Traditional Gate Security</a:t>
            </a:r>
            <a:endParaRPr lang="en-US" sz="1800" dirty="0"/>
          </a:p>
        </p:txBody>
      </p:sp>
      <p:sp>
        <p:nvSpPr>
          <p:cNvPr id="5" name="Text 3"/>
          <p:cNvSpPr/>
          <p:nvPr/>
        </p:nvSpPr>
        <p:spPr>
          <a:xfrm>
            <a:off x="548640" y="768096"/>
            <a:ext cx="8046720" cy="201168"/>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Operational Vulnerabilities &amp; Bottlenecks of Physical Paper Logbooks</a:t>
            </a:r>
            <a:endParaRPr lang="en-US" sz="950" dirty="0"/>
          </a:p>
        </p:txBody>
      </p:sp>
      <p:sp>
        <p:nvSpPr>
          <p:cNvPr id="6" name="Shape 4"/>
          <p:cNvSpPr/>
          <p:nvPr/>
        </p:nvSpPr>
        <p:spPr>
          <a:xfrm>
            <a:off x="548640" y="1005840"/>
            <a:ext cx="8046720" cy="9144"/>
          </a:xfrm>
          <a:prstGeom prst="rect">
            <a:avLst/>
          </a:prstGeom>
          <a:solidFill>
            <a:srgbClr val="E2E8F0"/>
          </a:solidFill>
          <a:ln w="12700">
            <a:solidFill>
              <a:srgbClr val="E2E8F0"/>
            </a:solidFill>
            <a:prstDash val="solid"/>
          </a:ln>
        </p:spPr>
      </p:sp>
      <p:sp>
        <p:nvSpPr>
          <p:cNvPr id="7" name="Shape 5"/>
          <p:cNvSpPr/>
          <p:nvPr/>
        </p:nvSpPr>
        <p:spPr>
          <a:xfrm>
            <a:off x="548640" y="4754880"/>
            <a:ext cx="8046720" cy="9144"/>
          </a:xfrm>
          <a:prstGeom prst="rect">
            <a:avLst/>
          </a:prstGeom>
          <a:solidFill>
            <a:srgbClr val="E2E8F0"/>
          </a:solidFill>
          <a:ln w="12700">
            <a:solidFill>
              <a:srgbClr val="E2E8F0"/>
            </a:solidFill>
            <a:prstDash val="solid"/>
          </a:ln>
        </p:spPr>
      </p:sp>
      <p:sp>
        <p:nvSpPr>
          <p:cNvPr id="8" name="Text 6"/>
          <p:cNvSpPr/>
          <p:nvPr/>
        </p:nvSpPr>
        <p:spPr>
          <a:xfrm>
            <a:off x="548640" y="4800600"/>
            <a:ext cx="5943600" cy="201168"/>
          </a:xfrm>
          <a:prstGeom prst="rect">
            <a:avLst/>
          </a:prstGeom>
          <a:noFill/>
          <a:ln/>
        </p:spPr>
        <p:txBody>
          <a:bodyPr wrap="square" rtlCol="0" anchor="ctr"/>
          <a:lstStyle/>
          <a:p>
            <a:pPr indent="0" marL="0">
              <a:buNone/>
            </a:pPr>
            <a:r>
              <a:rPr lang="en-US" sz="850" dirty="0">
                <a:solidFill>
                  <a:srgbClr val="64748B"/>
                </a:solidFill>
                <a:latin typeface="Calibri" pitchFamily="34" charset="0"/>
                <a:ea typeface="Calibri" pitchFamily="34" charset="-122"/>
                <a:cs typeface="Calibri" pitchFamily="34" charset="-120"/>
              </a:rPr>
              <a:t>GateSync — Smart Society Security System  |  Arpitsinh Thakor (23SE02IE040)</a:t>
            </a:r>
            <a:endParaRPr lang="en-US" sz="850" dirty="0"/>
          </a:p>
        </p:txBody>
      </p:sp>
      <p:sp>
        <p:nvSpPr>
          <p:cNvPr id="9" name="Text 7"/>
          <p:cNvSpPr/>
          <p:nvPr/>
        </p:nvSpPr>
        <p:spPr>
          <a:xfrm>
            <a:off x="6583680" y="4800600"/>
            <a:ext cx="2011680" cy="201168"/>
          </a:xfrm>
          <a:prstGeom prst="rect">
            <a:avLst/>
          </a:prstGeom>
          <a:noFill/>
          <a:ln/>
        </p:spPr>
        <p:txBody>
          <a:bodyPr wrap="square" rtlCol="0" anchor="ctr"/>
          <a:lstStyle/>
          <a:p>
            <a:pPr algn="r" indent="0" marL="0">
              <a:buNone/>
            </a:pPr>
            <a:r>
              <a:rPr lang="en-US" sz="850" b="1" dirty="0">
                <a:solidFill>
                  <a:srgbClr val="1E40AF"/>
                </a:solidFill>
                <a:latin typeface="Calibri" pitchFamily="34" charset="0"/>
                <a:ea typeface="Calibri" pitchFamily="34" charset="-122"/>
                <a:cs typeface="Calibri" pitchFamily="34" charset="-120"/>
              </a:rPr>
              <a:t>SCHOOL OF ENGINEERING  •  SLIDE 2 / 12</a:t>
            </a:r>
            <a:endParaRPr lang="en-US" sz="850" dirty="0"/>
          </a:p>
        </p:txBody>
      </p:sp>
      <p:sp>
        <p:nvSpPr>
          <p:cNvPr id="10" name="Shape 8"/>
          <p:cNvSpPr/>
          <p:nvPr/>
        </p:nvSpPr>
        <p:spPr>
          <a:xfrm>
            <a:off x="548640" y="1143000"/>
            <a:ext cx="3886200" cy="3474720"/>
          </a:xfrm>
          <a:prstGeom prst="rect">
            <a:avLst/>
          </a:prstGeom>
          <a:solidFill>
            <a:srgbClr val="FFFFFF"/>
          </a:solidFill>
          <a:ln w="12700">
            <a:solidFill>
              <a:srgbClr val="E2E8F0"/>
            </a:solidFill>
            <a:prstDash val="solid"/>
          </a:ln>
        </p:spPr>
      </p:sp>
      <p:sp>
        <p:nvSpPr>
          <p:cNvPr id="11" name="Shape 9"/>
          <p:cNvSpPr/>
          <p:nvPr/>
        </p:nvSpPr>
        <p:spPr>
          <a:xfrm>
            <a:off x="548640" y="1143000"/>
            <a:ext cx="73152" cy="3474720"/>
          </a:xfrm>
          <a:prstGeom prst="rect">
            <a:avLst/>
          </a:prstGeom>
          <a:solidFill>
            <a:srgbClr val="DC2626"/>
          </a:solidFill>
          <a:ln w="12700">
            <a:solidFill>
              <a:srgbClr val="DC2626"/>
            </a:solidFill>
            <a:prstDash val="solid"/>
          </a:ln>
        </p:spPr>
      </p:sp>
      <p:sp>
        <p:nvSpPr>
          <p:cNvPr id="12" name="Text 10"/>
          <p:cNvSpPr/>
          <p:nvPr/>
        </p:nvSpPr>
        <p:spPr>
          <a:xfrm>
            <a:off x="777240" y="1280160"/>
            <a:ext cx="3520440" cy="256032"/>
          </a:xfrm>
          <a:prstGeom prst="rect">
            <a:avLst/>
          </a:prstGeom>
          <a:noFill/>
          <a:ln/>
        </p:spPr>
        <p:txBody>
          <a:bodyPr wrap="square"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TRADITIONAL PAPER REGISTER LIMITATIONS</a:t>
            </a:r>
            <a:endParaRPr lang="en-US" sz="1100" dirty="0"/>
          </a:p>
        </p:txBody>
      </p:sp>
      <p:sp>
        <p:nvSpPr>
          <p:cNvPr id="13" name="Text 11"/>
          <p:cNvSpPr/>
          <p:nvPr/>
        </p:nvSpPr>
        <p:spPr>
          <a:xfrm>
            <a:off x="777240" y="1600200"/>
            <a:ext cx="3520440" cy="2880360"/>
          </a:xfrm>
          <a:prstGeom prst="rect">
            <a:avLst/>
          </a:prstGeom>
          <a:noFill/>
          <a:ln/>
        </p:spPr>
        <p:txBody>
          <a:bodyPr wrap="square" rtlCol="0" anchor="ctr"/>
          <a:lstStyle/>
          <a:p>
            <a:pPr indent="0" marL="0">
              <a:buNone/>
            </a:pPr>
            <a:r>
              <a:rPr lang="en-US" sz="850" b="1" dirty="0">
                <a:solidFill>
                  <a:srgbClr val="0F172A"/>
                </a:solidFill>
                <a:latin typeface="Calibri" pitchFamily="34" charset="0"/>
                <a:ea typeface="Calibri" pitchFamily="34" charset="-122"/>
                <a:cs typeface="Calibri" pitchFamily="34" charset="-120"/>
              </a:rPr>
              <a:t>•  Long Gate Queues at Peak Hours
</a:t>
            </a:r>
            <a:pPr indent="0" marL="0">
              <a:buNone/>
            </a:pPr>
            <a:r>
              <a:rPr lang="en-US" sz="850" dirty="0">
                <a:solidFill>
                  <a:srgbClr val="334155"/>
                </a:solidFill>
                <a:latin typeface="Calibri" pitchFamily="34" charset="0"/>
                <a:ea typeface="Calibri" pitchFamily="34" charset="-122"/>
                <a:cs typeface="Calibri" pitchFamily="34" charset="-120"/>
              </a:rPr>
              <a:t>Guards manually record visitor names, phone numbers, and flat numbers in physical registers. Each entry takes 2–4 minutes, creating severe vehicle and pedestrian gate bottlenecks.
</a:t>
            </a:r>
            <a:pPr indent="0" marL="0">
              <a:buNone/>
            </a:pPr>
            <a:r>
              <a:rPr lang="en-US" sz="850" b="1" dirty="0">
                <a:solidFill>
                  <a:srgbClr val="0F172A"/>
                </a:solidFill>
                <a:latin typeface="Calibri" pitchFamily="34" charset="0"/>
                <a:ea typeface="Calibri" pitchFamily="34" charset="-122"/>
                <a:cs typeface="Calibri" pitchFamily="34" charset="-120"/>
              </a:rPr>
              <a:t>•  Zero Privacy for Residents &amp; Phone Leakage
</a:t>
            </a:r>
            <a:pPr indent="0" marL="0">
              <a:buNone/>
            </a:pPr>
            <a:r>
              <a:rPr lang="en-US" sz="850" dirty="0">
                <a:solidFill>
                  <a:srgbClr val="334155"/>
                </a:solidFill>
                <a:latin typeface="Calibri" pitchFamily="34" charset="0"/>
                <a:ea typeface="Calibri" pitchFamily="34" charset="-122"/>
                <a:cs typeface="Calibri" pitchFamily="34" charset="-120"/>
              </a:rPr>
              <a:t>The open physical logbook sits on the guard desk. Any delivery boy or visitor can read, copy, or photograph resident contact numbers and private flat details.
</a:t>
            </a:r>
            <a:pPr indent="0" marL="0">
              <a:buNone/>
            </a:pPr>
            <a:r>
              <a:rPr lang="en-US" sz="850" b="1" dirty="0">
                <a:solidFill>
                  <a:srgbClr val="0F172A"/>
                </a:solidFill>
                <a:latin typeface="Calibri" pitchFamily="34" charset="0"/>
                <a:ea typeface="Calibri" pitchFamily="34" charset="-122"/>
                <a:cs typeface="Calibri" pitchFamily="34" charset="-120"/>
              </a:rPr>
              <a:t>•  Unanswered Intercoms &amp; Missed Verification Calls
</a:t>
            </a:r>
            <a:pPr indent="0" marL="0">
              <a:buNone/>
            </a:pPr>
            <a:r>
              <a:rPr lang="en-US" sz="850" dirty="0">
                <a:solidFill>
                  <a:srgbClr val="334155"/>
                </a:solidFill>
                <a:latin typeface="Calibri" pitchFamily="34" charset="0"/>
                <a:ea typeface="Calibri" pitchFamily="34" charset="-122"/>
                <a:cs typeface="Calibri" pitchFamily="34" charset="-120"/>
              </a:rPr>
              <a:t>Guards repeatedly attempt to reach residents via intercom or cellular calls. When residents are busy or away, guards either let visitors in unverified or strand guests outside.
</a:t>
            </a:r>
            <a:pPr indent="0" marL="0">
              <a:buNone/>
            </a:pPr>
            <a:r>
              <a:rPr lang="en-US" sz="850" b="1" dirty="0">
                <a:solidFill>
                  <a:srgbClr val="0F172A"/>
                </a:solidFill>
                <a:latin typeface="Calibri" pitchFamily="34" charset="0"/>
                <a:ea typeface="Calibri" pitchFamily="34" charset="-122"/>
                <a:cs typeface="Calibri" pitchFamily="34" charset="-120"/>
              </a:rPr>
              <a:t>•  Overwhelming Courier Delivery Volumes
</a:t>
            </a:r>
            <a:pPr indent="0" marL="0">
              <a:buNone/>
            </a:pPr>
            <a:r>
              <a:rPr lang="en-US" sz="850" dirty="0">
                <a:solidFill>
                  <a:srgbClr val="334155"/>
                </a:solidFill>
                <a:latin typeface="Calibri" pitchFamily="34" charset="0"/>
                <a:ea typeface="Calibri" pitchFamily="34" charset="-122"/>
                <a:cs typeface="Calibri" pitchFamily="34" charset="-120"/>
              </a:rPr>
              <a:t>Daily e-commerce couriers (Swiggy, Zomato, Amazon, Blinkit) create excessive manual documentation overhead for guards handling repetitive entries.</a:t>
            </a:r>
            <a:endParaRPr lang="en-US" sz="850" dirty="0"/>
          </a:p>
        </p:txBody>
      </p:sp>
      <p:sp>
        <p:nvSpPr>
          <p:cNvPr id="14" name="Shape 12"/>
          <p:cNvSpPr/>
          <p:nvPr/>
        </p:nvSpPr>
        <p:spPr>
          <a:xfrm>
            <a:off x="4709160" y="1143000"/>
            <a:ext cx="3886200" cy="3474720"/>
          </a:xfrm>
          <a:prstGeom prst="rect">
            <a:avLst/>
          </a:prstGeom>
          <a:solidFill>
            <a:srgbClr val="FFFFFF"/>
          </a:solidFill>
          <a:ln w="12700">
            <a:solidFill>
              <a:srgbClr val="E2E8F0"/>
            </a:solidFill>
            <a:prstDash val="solid"/>
          </a:ln>
        </p:spPr>
      </p:sp>
      <p:sp>
        <p:nvSpPr>
          <p:cNvPr id="15" name="Shape 13"/>
          <p:cNvSpPr/>
          <p:nvPr/>
        </p:nvSpPr>
        <p:spPr>
          <a:xfrm>
            <a:off x="4709160" y="1143000"/>
            <a:ext cx="73152" cy="3474720"/>
          </a:xfrm>
          <a:prstGeom prst="rect">
            <a:avLst/>
          </a:prstGeom>
          <a:solidFill>
            <a:srgbClr val="16A34A"/>
          </a:solidFill>
          <a:ln w="12700">
            <a:solidFill>
              <a:srgbClr val="16A34A"/>
            </a:solidFill>
            <a:prstDash val="solid"/>
          </a:ln>
        </p:spPr>
      </p:sp>
      <p:sp>
        <p:nvSpPr>
          <p:cNvPr id="16" name="Text 14"/>
          <p:cNvSpPr/>
          <p:nvPr/>
        </p:nvSpPr>
        <p:spPr>
          <a:xfrm>
            <a:off x="4937760" y="1280160"/>
            <a:ext cx="3520440" cy="256032"/>
          </a:xfrm>
          <a:prstGeom prst="rect">
            <a:avLst/>
          </a:prstGeom>
          <a:noFill/>
          <a:ln/>
        </p:spPr>
        <p:txBody>
          <a:bodyPr wrap="square" rtlCol="0" anchor="ctr"/>
          <a:lstStyle/>
          <a:p>
            <a:pPr indent="0" marL="0">
              <a:buNone/>
            </a:pPr>
            <a:r>
              <a:rPr lang="en-US" sz="1100" b="1" dirty="0">
                <a:solidFill>
                  <a:srgbClr val="16A34A"/>
                </a:solidFill>
                <a:latin typeface="Calibri" pitchFamily="34" charset="0"/>
                <a:ea typeface="Calibri" pitchFamily="34" charset="-122"/>
                <a:cs typeface="Calibri" pitchFamily="34" charset="-120"/>
              </a:rPr>
              <a:t>THE GATESYNC DIGITAL SOLUTION</a:t>
            </a:r>
            <a:endParaRPr lang="en-US" sz="1100" dirty="0"/>
          </a:p>
        </p:txBody>
      </p:sp>
      <p:sp>
        <p:nvSpPr>
          <p:cNvPr id="17" name="Text 15"/>
          <p:cNvSpPr/>
          <p:nvPr/>
        </p:nvSpPr>
        <p:spPr>
          <a:xfrm>
            <a:off x="4937760" y="1600200"/>
            <a:ext cx="3520440" cy="2880360"/>
          </a:xfrm>
          <a:prstGeom prst="rect">
            <a:avLst/>
          </a:prstGeom>
          <a:noFill/>
          <a:ln/>
        </p:spPr>
        <p:txBody>
          <a:bodyPr wrap="square" rtlCol="0" anchor="ctr"/>
          <a:lstStyle/>
          <a:p>
            <a:pPr indent="0" marL="0">
              <a:buNone/>
            </a:pPr>
            <a:r>
              <a:rPr lang="en-US" sz="850" b="1" dirty="0">
                <a:solidFill>
                  <a:srgbClr val="0F172A"/>
                </a:solidFill>
                <a:latin typeface="Calibri" pitchFamily="34" charset="0"/>
                <a:ea typeface="Calibri" pitchFamily="34" charset="-122"/>
                <a:cs typeface="Calibri" pitchFamily="34" charset="-120"/>
              </a:rPr>
              <a:t>•  Instant Smartphone Push Alerts (&lt; 150ms)
</a:t>
            </a:r>
            <a:pPr indent="0" marL="0">
              <a:buNone/>
            </a:pPr>
            <a:r>
              <a:rPr lang="en-US" sz="850" dirty="0">
                <a:solidFill>
                  <a:srgbClr val="334155"/>
                </a:solidFill>
                <a:latin typeface="Calibri" pitchFamily="34" charset="0"/>
                <a:ea typeface="Calibri" pitchFamily="34" charset="-122"/>
                <a:cs typeface="Calibri" pitchFamily="34" charset="-120"/>
              </a:rPr>
              <a:t>When a visitor arrives, the guard submits details in under 10 seconds. An immediate pop-up notification appears on the resident phone with visitor details and photo.
</a:t>
            </a:r>
            <a:pPr indent="0" marL="0">
              <a:buNone/>
            </a:pPr>
            <a:r>
              <a:rPr lang="en-US" sz="850" b="1" dirty="0">
                <a:solidFill>
                  <a:srgbClr val="0F172A"/>
                </a:solidFill>
                <a:latin typeface="Calibri" pitchFamily="34" charset="0"/>
                <a:ea typeface="Calibri" pitchFamily="34" charset="-122"/>
                <a:cs typeface="Calibri" pitchFamily="34" charset="-120"/>
              </a:rPr>
              <a:t>•  1-Tap Resident Remote Approvals
</a:t>
            </a:r>
            <a:pPr indent="0" marL="0">
              <a:buNone/>
            </a:pPr>
            <a:r>
              <a:rPr lang="en-US" sz="850" dirty="0">
                <a:solidFill>
                  <a:srgbClr val="334155"/>
                </a:solidFill>
                <a:latin typeface="Calibri" pitchFamily="34" charset="0"/>
                <a:ea typeface="Calibri" pitchFamily="34" charset="-122"/>
                <a:cs typeface="Calibri" pitchFamily="34" charset="-120"/>
              </a:rPr>
              <a:t>Residents approve or deny entry with a single tap from anywhere (at home, work, or travelling) with zero voice calls required.
</a:t>
            </a:r>
            <a:pPr indent="0" marL="0">
              <a:buNone/>
            </a:pPr>
            <a:r>
              <a:rPr lang="en-US" sz="850" b="1" dirty="0">
                <a:solidFill>
                  <a:srgbClr val="0F172A"/>
                </a:solidFill>
                <a:latin typeface="Calibri" pitchFamily="34" charset="0"/>
                <a:ea typeface="Calibri" pitchFamily="34" charset="-122"/>
                <a:cs typeface="Calibri" pitchFamily="34" charset="-120"/>
              </a:rPr>
              <a:t>•  Pre-Approved Guest Passes with Digital QR
</a:t>
            </a:r>
            <a:pPr indent="0" marL="0">
              <a:buNone/>
            </a:pPr>
            <a:r>
              <a:rPr lang="en-US" sz="850" dirty="0">
                <a:solidFill>
                  <a:srgbClr val="334155"/>
                </a:solidFill>
                <a:latin typeface="Calibri" pitchFamily="34" charset="0"/>
                <a:ea typeface="Calibri" pitchFamily="34" charset="-122"/>
                <a:cs typeface="Calibri" pitchFamily="34" charset="-120"/>
              </a:rPr>
              <a:t>Residents generate digital gate passes beforehand for expected guests. Visitors display their QR code or 6-digit OTP for 2-second fast clearance.
</a:t>
            </a:r>
            <a:pPr indent="0" marL="0">
              <a:buNone/>
            </a:pPr>
            <a:r>
              <a:rPr lang="en-US" sz="850" b="1" dirty="0">
                <a:solidFill>
                  <a:srgbClr val="0F172A"/>
                </a:solidFill>
                <a:latin typeface="Calibri" pitchFamily="34" charset="0"/>
                <a:ea typeface="Calibri" pitchFamily="34" charset="-122"/>
                <a:cs typeface="Calibri" pitchFamily="34" charset="-120"/>
              </a:rPr>
              <a:t>•  1-Tap Delivery Clearance for Verified Couriers
</a:t>
            </a:r>
            <a:pPr indent="0" marL="0">
              <a:buNone/>
            </a:pPr>
            <a:r>
              <a:rPr lang="en-US" sz="850" dirty="0">
                <a:solidFill>
                  <a:srgbClr val="334155"/>
                </a:solidFill>
                <a:latin typeface="Calibri" pitchFamily="34" charset="0"/>
                <a:ea typeface="Calibri" pitchFamily="34" charset="-122"/>
                <a:cs typeface="Calibri" pitchFamily="34" charset="-120"/>
              </a:rPr>
              <a:t>One-click quick delivery intake buttons for Amazon, Flipkart, Swiggy, and Zomato streamline high-frequency courier entries without manual typing.</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1E40AF"/>
          </a:solidFill>
          <a:ln w="12700">
            <a:solidFill>
              <a:srgbClr val="1E40AF"/>
            </a:solidFill>
            <a:prstDash val="solid"/>
          </a:ln>
        </p:spPr>
      </p:sp>
      <p:sp>
        <p:nvSpPr>
          <p:cNvPr id="3" name="Text 1"/>
          <p:cNvSpPr/>
          <p:nvPr/>
        </p:nvSpPr>
        <p:spPr>
          <a:xfrm>
            <a:off x="548640" y="219456"/>
            <a:ext cx="5486400" cy="201168"/>
          </a:xfrm>
          <a:prstGeom prst="rect">
            <a:avLst/>
          </a:prstGeom>
          <a:noFill/>
          <a:ln/>
        </p:spPr>
        <p:txBody>
          <a:bodyPr wrap="square" rtlCol="0" anchor="ctr"/>
          <a:lstStyle/>
          <a:p>
            <a:pPr indent="0" marL="0">
              <a:buNone/>
            </a:pPr>
            <a:r>
              <a:rPr lang="en-US" sz="850" b="1" dirty="0">
                <a:solidFill>
                  <a:srgbClr val="1E40AF"/>
                </a:solidFill>
                <a:latin typeface="Calibri" pitchFamily="34" charset="0"/>
                <a:ea typeface="Calibri" pitchFamily="34" charset="-122"/>
                <a:cs typeface="Calibri" pitchFamily="34" charset="-120"/>
              </a:rPr>
              <a:t>SECTION 02  |  TECHNICAL ARCHITECTURE</a:t>
            </a:r>
            <a:endParaRPr lang="en-US" sz="850" dirty="0"/>
          </a:p>
        </p:txBody>
      </p:sp>
      <p:sp>
        <p:nvSpPr>
          <p:cNvPr id="4" name="Text 2"/>
          <p:cNvSpPr/>
          <p:nvPr/>
        </p:nvSpPr>
        <p:spPr>
          <a:xfrm>
            <a:off x="548640" y="420624"/>
            <a:ext cx="8046720" cy="347472"/>
          </a:xfrm>
          <a:prstGeom prst="rect">
            <a:avLst/>
          </a:prstGeom>
          <a:noFill/>
          <a:ln/>
        </p:spPr>
        <p:txBody>
          <a:bodyPr wrap="square" rtlCol="0" anchor="ctr"/>
          <a:lstStyle/>
          <a:p>
            <a:pPr indent="0" marL="0">
              <a:buNone/>
            </a:pPr>
            <a:r>
              <a:rPr lang="en-US" sz="1800" b="1" dirty="0">
                <a:solidFill>
                  <a:srgbClr val="0F2942"/>
                </a:solidFill>
                <a:latin typeface="Calibri" pitchFamily="34" charset="0"/>
                <a:ea typeface="Calibri" pitchFamily="34" charset="-122"/>
                <a:cs typeface="Calibri" pitchFamily="34" charset="-120"/>
              </a:rPr>
              <a:t>Full Stack System Architecture</a:t>
            </a:r>
            <a:endParaRPr lang="en-US" sz="1800" dirty="0"/>
          </a:p>
        </p:txBody>
      </p:sp>
      <p:sp>
        <p:nvSpPr>
          <p:cNvPr id="5" name="Text 3"/>
          <p:cNvSpPr/>
          <p:nvPr/>
        </p:nvSpPr>
        <p:spPr>
          <a:xfrm>
            <a:off x="548640" y="768096"/>
            <a:ext cx="8046720" cy="201168"/>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Decoupled 3-Tier Enterprise Architecture (Client, Service, Database)</a:t>
            </a:r>
            <a:endParaRPr lang="en-US" sz="950" dirty="0"/>
          </a:p>
        </p:txBody>
      </p:sp>
      <p:sp>
        <p:nvSpPr>
          <p:cNvPr id="6" name="Shape 4"/>
          <p:cNvSpPr/>
          <p:nvPr/>
        </p:nvSpPr>
        <p:spPr>
          <a:xfrm>
            <a:off x="548640" y="1005840"/>
            <a:ext cx="8046720" cy="9144"/>
          </a:xfrm>
          <a:prstGeom prst="rect">
            <a:avLst/>
          </a:prstGeom>
          <a:solidFill>
            <a:srgbClr val="E2E8F0"/>
          </a:solidFill>
          <a:ln w="12700">
            <a:solidFill>
              <a:srgbClr val="E2E8F0"/>
            </a:solidFill>
            <a:prstDash val="solid"/>
          </a:ln>
        </p:spPr>
      </p:sp>
      <p:sp>
        <p:nvSpPr>
          <p:cNvPr id="7" name="Shape 5"/>
          <p:cNvSpPr/>
          <p:nvPr/>
        </p:nvSpPr>
        <p:spPr>
          <a:xfrm>
            <a:off x="548640" y="4754880"/>
            <a:ext cx="8046720" cy="9144"/>
          </a:xfrm>
          <a:prstGeom prst="rect">
            <a:avLst/>
          </a:prstGeom>
          <a:solidFill>
            <a:srgbClr val="E2E8F0"/>
          </a:solidFill>
          <a:ln w="12700">
            <a:solidFill>
              <a:srgbClr val="E2E8F0"/>
            </a:solidFill>
            <a:prstDash val="solid"/>
          </a:ln>
        </p:spPr>
      </p:sp>
      <p:sp>
        <p:nvSpPr>
          <p:cNvPr id="8" name="Text 6"/>
          <p:cNvSpPr/>
          <p:nvPr/>
        </p:nvSpPr>
        <p:spPr>
          <a:xfrm>
            <a:off x="548640" y="4800600"/>
            <a:ext cx="5943600" cy="201168"/>
          </a:xfrm>
          <a:prstGeom prst="rect">
            <a:avLst/>
          </a:prstGeom>
          <a:noFill/>
          <a:ln/>
        </p:spPr>
        <p:txBody>
          <a:bodyPr wrap="square" rtlCol="0" anchor="ctr"/>
          <a:lstStyle/>
          <a:p>
            <a:pPr indent="0" marL="0">
              <a:buNone/>
            </a:pPr>
            <a:r>
              <a:rPr lang="en-US" sz="850" dirty="0">
                <a:solidFill>
                  <a:srgbClr val="64748B"/>
                </a:solidFill>
                <a:latin typeface="Calibri" pitchFamily="34" charset="0"/>
                <a:ea typeface="Calibri" pitchFamily="34" charset="-122"/>
                <a:cs typeface="Calibri" pitchFamily="34" charset="-120"/>
              </a:rPr>
              <a:t>GateSync — Smart Society Security System  |  Arpitsinh Thakor (23SE02IE040)</a:t>
            </a:r>
            <a:endParaRPr lang="en-US" sz="850" dirty="0"/>
          </a:p>
        </p:txBody>
      </p:sp>
      <p:sp>
        <p:nvSpPr>
          <p:cNvPr id="9" name="Text 7"/>
          <p:cNvSpPr/>
          <p:nvPr/>
        </p:nvSpPr>
        <p:spPr>
          <a:xfrm>
            <a:off x="6583680" y="4800600"/>
            <a:ext cx="2011680" cy="201168"/>
          </a:xfrm>
          <a:prstGeom prst="rect">
            <a:avLst/>
          </a:prstGeom>
          <a:noFill/>
          <a:ln/>
        </p:spPr>
        <p:txBody>
          <a:bodyPr wrap="square" rtlCol="0" anchor="ctr"/>
          <a:lstStyle/>
          <a:p>
            <a:pPr algn="r" indent="0" marL="0">
              <a:buNone/>
            </a:pPr>
            <a:r>
              <a:rPr lang="en-US" sz="850" b="1" dirty="0">
                <a:solidFill>
                  <a:srgbClr val="1E40AF"/>
                </a:solidFill>
                <a:latin typeface="Calibri" pitchFamily="34" charset="0"/>
                <a:ea typeface="Calibri" pitchFamily="34" charset="-122"/>
                <a:cs typeface="Calibri" pitchFamily="34" charset="-120"/>
              </a:rPr>
              <a:t>SCHOOL OF ENGINEERING  •  SLIDE 3 / 12</a:t>
            </a:r>
            <a:endParaRPr lang="en-US" sz="850" dirty="0"/>
          </a:p>
        </p:txBody>
      </p:sp>
      <p:sp>
        <p:nvSpPr>
          <p:cNvPr id="10" name="Shape 8"/>
          <p:cNvSpPr/>
          <p:nvPr/>
        </p:nvSpPr>
        <p:spPr>
          <a:xfrm>
            <a:off x="548640" y="1143000"/>
            <a:ext cx="2377440" cy="3474720"/>
          </a:xfrm>
          <a:prstGeom prst="rect">
            <a:avLst/>
          </a:prstGeom>
          <a:solidFill>
            <a:srgbClr val="FFFFFF"/>
          </a:solidFill>
          <a:ln w="12700">
            <a:solidFill>
              <a:srgbClr val="E2E8F0"/>
            </a:solidFill>
            <a:prstDash val="solid"/>
          </a:ln>
        </p:spPr>
      </p:sp>
      <p:sp>
        <p:nvSpPr>
          <p:cNvPr id="11" name="Shape 9"/>
          <p:cNvSpPr/>
          <p:nvPr/>
        </p:nvSpPr>
        <p:spPr>
          <a:xfrm>
            <a:off x="548640" y="1143000"/>
            <a:ext cx="2377440" cy="45720"/>
          </a:xfrm>
          <a:prstGeom prst="rect">
            <a:avLst/>
          </a:prstGeom>
          <a:solidFill>
            <a:srgbClr val="1E40AF"/>
          </a:solidFill>
          <a:ln w="12700">
            <a:solidFill>
              <a:srgbClr val="1E40AF"/>
            </a:solidFill>
            <a:prstDash val="solid"/>
          </a:ln>
        </p:spPr>
      </p:sp>
      <p:sp>
        <p:nvSpPr>
          <p:cNvPr id="12" name="Text 10"/>
          <p:cNvSpPr/>
          <p:nvPr/>
        </p:nvSpPr>
        <p:spPr>
          <a:xfrm>
            <a:off x="685800" y="1280160"/>
            <a:ext cx="2103120" cy="201168"/>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FRONTEND CLIENT</a:t>
            </a:r>
            <a:endParaRPr lang="en-US" sz="1000" dirty="0"/>
          </a:p>
        </p:txBody>
      </p:sp>
      <p:sp>
        <p:nvSpPr>
          <p:cNvPr id="13" name="Text 11"/>
          <p:cNvSpPr/>
          <p:nvPr/>
        </p:nvSpPr>
        <p:spPr>
          <a:xfrm>
            <a:off x="685800" y="1481328"/>
            <a:ext cx="2103120" cy="228600"/>
          </a:xfrm>
          <a:prstGeom prst="rect">
            <a:avLst/>
          </a:prstGeom>
          <a:noFill/>
          <a:ln/>
        </p:spPr>
        <p:txBody>
          <a:bodyPr wrap="square"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React 19 PWA &amp; Vite</a:t>
            </a:r>
            <a:endParaRPr lang="en-US" sz="1200" dirty="0"/>
          </a:p>
        </p:txBody>
      </p:sp>
      <p:sp>
        <p:nvSpPr>
          <p:cNvPr id="14" name="Text 12"/>
          <p:cNvSpPr/>
          <p:nvPr/>
        </p:nvSpPr>
        <p:spPr>
          <a:xfrm>
            <a:off x="685800" y="1783080"/>
            <a:ext cx="2103120" cy="2697480"/>
          </a:xfrm>
          <a:prstGeom prst="rect">
            <a:avLst/>
          </a:prstGeom>
          <a:noFill/>
          <a:ln/>
        </p:spPr>
        <p:txBody>
          <a:bodyPr wrap="square" rtlCol="0" anchor="ctr"/>
          <a:lstStyle/>
          <a:p>
            <a:pPr indent="0" marL="0">
              <a:buNone/>
            </a:pPr>
            <a:r>
              <a:rPr lang="en-US" sz="800" b="1" dirty="0">
                <a:solidFill>
                  <a:srgbClr val="0F2942"/>
                </a:solidFill>
                <a:latin typeface="Calibri" pitchFamily="34" charset="0"/>
                <a:ea typeface="Calibri" pitchFamily="34" charset="-122"/>
                <a:cs typeface="Calibri" pitchFamily="34" charset="-120"/>
              </a:rPr>
              <a:t>•  Progressive Web App (PWA)
</a:t>
            </a:r>
            <a:pPr indent="0" marL="0">
              <a:buNone/>
            </a:pPr>
            <a:r>
              <a:rPr lang="en-US" sz="800" dirty="0">
                <a:solidFill>
                  <a:srgbClr val="334155"/>
                </a:solidFill>
                <a:latin typeface="Calibri" pitchFamily="34" charset="0"/>
                <a:ea typeface="Calibri" pitchFamily="34" charset="-122"/>
                <a:cs typeface="Calibri" pitchFamily="34" charset="-120"/>
              </a:rPr>
              <a:t>Installable on mobile smartphones and desktop cabin PCs; works offline via Service Workers.
</a:t>
            </a:r>
            <a:pPr indent="0" marL="0">
              <a:buNone/>
            </a:pPr>
            <a:r>
              <a:rPr lang="en-US" sz="800" b="1" dirty="0">
                <a:solidFill>
                  <a:srgbClr val="0F2942"/>
                </a:solidFill>
                <a:latin typeface="Calibri" pitchFamily="34" charset="0"/>
                <a:ea typeface="Calibri" pitchFamily="34" charset="-122"/>
                <a:cs typeface="Calibri" pitchFamily="34" charset="-120"/>
              </a:rPr>
              <a:t>•  WebSocket STOMP Client
</a:t>
            </a:r>
            <a:pPr indent="0" marL="0">
              <a:buNone/>
            </a:pPr>
            <a:r>
              <a:rPr lang="en-US" sz="800" dirty="0">
                <a:solidFill>
                  <a:srgbClr val="334155"/>
                </a:solidFill>
                <a:latin typeface="Calibri" pitchFamily="34" charset="0"/>
                <a:ea typeface="Calibri" pitchFamily="34" charset="-122"/>
                <a:cs typeface="Calibri" pitchFamily="34" charset="-120"/>
              </a:rPr>
              <a:t>Maintains low-latency bidirectional socket connection for instant visitor push alerts.
</a:t>
            </a:r>
            <a:pPr indent="0" marL="0">
              <a:buNone/>
            </a:pPr>
            <a:r>
              <a:rPr lang="en-US" sz="800" b="1" dirty="0">
                <a:solidFill>
                  <a:srgbClr val="0F2942"/>
                </a:solidFill>
                <a:latin typeface="Calibri" pitchFamily="34" charset="0"/>
                <a:ea typeface="Calibri" pitchFamily="34" charset="-122"/>
                <a:cs typeface="Calibri" pitchFamily="34" charset="-120"/>
              </a:rPr>
              <a:t>•  Responsive UI Design
</a:t>
            </a:r>
            <a:pPr indent="0" marL="0">
              <a:buNone/>
            </a:pPr>
            <a:r>
              <a:rPr lang="en-US" sz="800" dirty="0">
                <a:solidFill>
                  <a:srgbClr val="334155"/>
                </a:solidFill>
                <a:latin typeface="Calibri" pitchFamily="34" charset="0"/>
                <a:ea typeface="Calibri" pitchFamily="34" charset="-122"/>
                <a:cs typeface="Calibri" pitchFamily="34" charset="-120"/>
              </a:rPr>
              <a:t>Modern executive UI tailored for guard touchscreens, resident phones, and admin portals.
</a:t>
            </a:r>
            <a:pPr indent="0" marL="0">
              <a:buNone/>
            </a:pPr>
            <a:r>
              <a:rPr lang="en-US" sz="800" b="1" dirty="0">
                <a:solidFill>
                  <a:srgbClr val="0F2942"/>
                </a:solidFill>
                <a:latin typeface="Calibri" pitchFamily="34" charset="0"/>
                <a:ea typeface="Calibri" pitchFamily="34" charset="-122"/>
                <a:cs typeface="Calibri" pitchFamily="34" charset="-120"/>
              </a:rPr>
              <a:t>•  Camera &amp; QR Scanner
</a:t>
            </a:r>
            <a:pPr indent="0" marL="0">
              <a:buNone/>
            </a:pPr>
            <a:r>
              <a:rPr lang="en-US" sz="800" dirty="0">
                <a:solidFill>
                  <a:srgbClr val="334155"/>
                </a:solidFill>
                <a:latin typeface="Calibri" pitchFamily="34" charset="0"/>
                <a:ea typeface="Calibri" pitchFamily="34" charset="-122"/>
                <a:cs typeface="Calibri" pitchFamily="34" charset="-120"/>
              </a:rPr>
              <a:t>Integrated WebRTC camera module for visitor snapshots and guest pass barcode verification.
</a:t>
            </a:r>
            <a:endParaRPr lang="en-US" sz="800" dirty="0"/>
          </a:p>
        </p:txBody>
      </p:sp>
      <p:sp>
        <p:nvSpPr>
          <p:cNvPr id="15" name="Shape 13"/>
          <p:cNvSpPr/>
          <p:nvPr/>
        </p:nvSpPr>
        <p:spPr>
          <a:xfrm>
            <a:off x="3383280" y="1143000"/>
            <a:ext cx="2377440" cy="3474720"/>
          </a:xfrm>
          <a:prstGeom prst="rect">
            <a:avLst/>
          </a:prstGeom>
          <a:solidFill>
            <a:srgbClr val="FFFFFF"/>
          </a:solidFill>
          <a:ln w="12700">
            <a:solidFill>
              <a:srgbClr val="E2E8F0"/>
            </a:solidFill>
            <a:prstDash val="solid"/>
          </a:ln>
        </p:spPr>
      </p:sp>
      <p:sp>
        <p:nvSpPr>
          <p:cNvPr id="16" name="Shape 14"/>
          <p:cNvSpPr/>
          <p:nvPr/>
        </p:nvSpPr>
        <p:spPr>
          <a:xfrm>
            <a:off x="3383280" y="1143000"/>
            <a:ext cx="2377440" cy="45720"/>
          </a:xfrm>
          <a:prstGeom prst="rect">
            <a:avLst/>
          </a:prstGeom>
          <a:solidFill>
            <a:srgbClr val="0F2942"/>
          </a:solidFill>
          <a:ln w="12700">
            <a:solidFill>
              <a:srgbClr val="0F2942"/>
            </a:solidFill>
            <a:prstDash val="solid"/>
          </a:ln>
        </p:spPr>
      </p:sp>
      <p:sp>
        <p:nvSpPr>
          <p:cNvPr id="17" name="Text 15"/>
          <p:cNvSpPr/>
          <p:nvPr/>
        </p:nvSpPr>
        <p:spPr>
          <a:xfrm>
            <a:off x="3520440" y="1280160"/>
            <a:ext cx="2103120" cy="201168"/>
          </a:xfrm>
          <a:prstGeom prst="rect">
            <a:avLst/>
          </a:prstGeom>
          <a:noFill/>
          <a:ln/>
        </p:spPr>
        <p:txBody>
          <a:bodyPr wrap="square" rtlCol="0" anchor="ctr"/>
          <a:lstStyle/>
          <a:p>
            <a:pPr indent="0" marL="0">
              <a:buNone/>
            </a:pPr>
            <a:r>
              <a:rPr lang="en-US" sz="1000" b="1" dirty="0">
                <a:solidFill>
                  <a:srgbClr val="0F2942"/>
                </a:solidFill>
                <a:latin typeface="Calibri" pitchFamily="34" charset="0"/>
                <a:ea typeface="Calibri" pitchFamily="34" charset="-122"/>
                <a:cs typeface="Calibri" pitchFamily="34" charset="-120"/>
              </a:rPr>
              <a:t>BACKEND CORE</a:t>
            </a:r>
            <a:endParaRPr lang="en-US" sz="1000" dirty="0"/>
          </a:p>
        </p:txBody>
      </p:sp>
      <p:sp>
        <p:nvSpPr>
          <p:cNvPr id="18" name="Text 16"/>
          <p:cNvSpPr/>
          <p:nvPr/>
        </p:nvSpPr>
        <p:spPr>
          <a:xfrm>
            <a:off x="3520440" y="1481328"/>
            <a:ext cx="2103120" cy="228600"/>
          </a:xfrm>
          <a:prstGeom prst="rect">
            <a:avLst/>
          </a:prstGeom>
          <a:noFill/>
          <a:ln/>
        </p:spPr>
        <p:txBody>
          <a:bodyPr wrap="square"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Spring Boot 3 (Java 21)</a:t>
            </a:r>
            <a:endParaRPr lang="en-US" sz="1200" dirty="0"/>
          </a:p>
        </p:txBody>
      </p:sp>
      <p:sp>
        <p:nvSpPr>
          <p:cNvPr id="19" name="Text 17"/>
          <p:cNvSpPr/>
          <p:nvPr/>
        </p:nvSpPr>
        <p:spPr>
          <a:xfrm>
            <a:off x="3520440" y="1783080"/>
            <a:ext cx="2103120" cy="2697480"/>
          </a:xfrm>
          <a:prstGeom prst="rect">
            <a:avLst/>
          </a:prstGeom>
          <a:noFill/>
          <a:ln/>
        </p:spPr>
        <p:txBody>
          <a:bodyPr wrap="square" rtlCol="0" anchor="ctr"/>
          <a:lstStyle/>
          <a:p>
            <a:pPr indent="0" marL="0">
              <a:buNone/>
            </a:pPr>
            <a:r>
              <a:rPr lang="en-US" sz="800" b="1" dirty="0">
                <a:solidFill>
                  <a:srgbClr val="0F2942"/>
                </a:solidFill>
                <a:latin typeface="Calibri" pitchFamily="34" charset="0"/>
                <a:ea typeface="Calibri" pitchFamily="34" charset="-122"/>
                <a:cs typeface="Calibri" pitchFamily="34" charset="-120"/>
              </a:rPr>
              <a:t>•  RESTful Microservice API
</a:t>
            </a:r>
            <a:pPr indent="0" marL="0">
              <a:buNone/>
            </a:pPr>
            <a:r>
              <a:rPr lang="en-US" sz="800" dirty="0">
                <a:solidFill>
                  <a:srgbClr val="334155"/>
                </a:solidFill>
                <a:latin typeface="Calibri" pitchFamily="34" charset="0"/>
                <a:ea typeface="Calibri" pitchFamily="34" charset="-122"/>
                <a:cs typeface="Calibri" pitchFamily="34" charset="-120"/>
              </a:rPr>
              <a:t>High-throughput stateless API controllers handling visitor logs, residents, and billing records.
</a:t>
            </a:r>
            <a:pPr indent="0" marL="0">
              <a:buNone/>
            </a:pPr>
            <a:r>
              <a:rPr lang="en-US" sz="800" b="1" dirty="0">
                <a:solidFill>
                  <a:srgbClr val="0F2942"/>
                </a:solidFill>
                <a:latin typeface="Calibri" pitchFamily="34" charset="0"/>
                <a:ea typeface="Calibri" pitchFamily="34" charset="-122"/>
                <a:cs typeface="Calibri" pitchFamily="34" charset="-120"/>
              </a:rPr>
              <a:t>•  WebSocket Message Broker
</a:t>
            </a:r>
            <a:pPr indent="0" marL="0">
              <a:buNone/>
            </a:pPr>
            <a:r>
              <a:rPr lang="en-US" sz="800" dirty="0">
                <a:solidFill>
                  <a:srgbClr val="334155"/>
                </a:solidFill>
                <a:latin typeface="Calibri" pitchFamily="34" charset="0"/>
                <a:ea typeface="Calibri" pitchFamily="34" charset="-122"/>
                <a:cs typeface="Calibri" pitchFamily="34" charset="-120"/>
              </a:rPr>
              <a:t>In-memory message broker routing real-time approval events directly to resident user queues.
</a:t>
            </a:r>
            <a:pPr indent="0" marL="0">
              <a:buNone/>
            </a:pPr>
            <a:r>
              <a:rPr lang="en-US" sz="800" b="1" dirty="0">
                <a:solidFill>
                  <a:srgbClr val="0F2942"/>
                </a:solidFill>
                <a:latin typeface="Calibri" pitchFamily="34" charset="0"/>
                <a:ea typeface="Calibri" pitchFamily="34" charset="-122"/>
                <a:cs typeface="Calibri" pitchFamily="34" charset="-120"/>
              </a:rPr>
              <a:t>•  Spring Security &amp; JWT
</a:t>
            </a:r>
            <a:pPr indent="0" marL="0">
              <a:buNone/>
            </a:pPr>
            <a:r>
              <a:rPr lang="en-US" sz="800" dirty="0">
                <a:solidFill>
                  <a:srgbClr val="334155"/>
                </a:solidFill>
                <a:latin typeface="Calibri" pitchFamily="34" charset="0"/>
                <a:ea typeface="Calibri" pitchFamily="34" charset="-122"/>
                <a:cs typeface="Calibri" pitchFamily="34" charset="-120"/>
              </a:rPr>
              <a:t>Role-based access control (RBAC) securing endpoints with 12-round BCrypt password hashing.
</a:t>
            </a:r>
            <a:pPr indent="0" marL="0">
              <a:buNone/>
            </a:pPr>
            <a:r>
              <a:rPr lang="en-US" sz="800" b="1" dirty="0">
                <a:solidFill>
                  <a:srgbClr val="0F2942"/>
                </a:solidFill>
                <a:latin typeface="Calibri" pitchFamily="34" charset="0"/>
                <a:ea typeface="Calibri" pitchFamily="34" charset="-122"/>
                <a:cs typeface="Calibri" pitchFamily="34" charset="-120"/>
              </a:rPr>
              <a:t>•  Scheduled Keep-Alive
</a:t>
            </a:r>
            <a:pPr indent="0" marL="0">
              <a:buNone/>
            </a:pPr>
            <a:r>
              <a:rPr lang="en-US" sz="800" dirty="0">
                <a:solidFill>
                  <a:srgbClr val="334155"/>
                </a:solidFill>
                <a:latin typeface="Calibri" pitchFamily="34" charset="0"/>
                <a:ea typeface="Calibri" pitchFamily="34" charset="-122"/>
                <a:cs typeface="Calibri" pitchFamily="34" charset="-120"/>
              </a:rPr>
              <a:t>Integrated `/api/health` monitoring endpoint preventing cloud container idle sleep.
</a:t>
            </a:r>
            <a:endParaRPr lang="en-US" sz="800" dirty="0"/>
          </a:p>
        </p:txBody>
      </p:sp>
      <p:sp>
        <p:nvSpPr>
          <p:cNvPr id="20" name="Shape 18"/>
          <p:cNvSpPr/>
          <p:nvPr/>
        </p:nvSpPr>
        <p:spPr>
          <a:xfrm>
            <a:off x="6217920" y="1143000"/>
            <a:ext cx="2377440" cy="3474720"/>
          </a:xfrm>
          <a:prstGeom prst="rect">
            <a:avLst/>
          </a:prstGeom>
          <a:solidFill>
            <a:srgbClr val="FFFFFF"/>
          </a:solidFill>
          <a:ln w="12700">
            <a:solidFill>
              <a:srgbClr val="E2E8F0"/>
            </a:solidFill>
            <a:prstDash val="solid"/>
          </a:ln>
        </p:spPr>
      </p:sp>
      <p:sp>
        <p:nvSpPr>
          <p:cNvPr id="21" name="Shape 19"/>
          <p:cNvSpPr/>
          <p:nvPr/>
        </p:nvSpPr>
        <p:spPr>
          <a:xfrm>
            <a:off x="6217920" y="1143000"/>
            <a:ext cx="2377440" cy="45720"/>
          </a:xfrm>
          <a:prstGeom prst="rect">
            <a:avLst/>
          </a:prstGeom>
          <a:solidFill>
            <a:srgbClr val="16A34A"/>
          </a:solidFill>
          <a:ln w="12700">
            <a:solidFill>
              <a:srgbClr val="16A34A"/>
            </a:solidFill>
            <a:prstDash val="solid"/>
          </a:ln>
        </p:spPr>
      </p:sp>
      <p:sp>
        <p:nvSpPr>
          <p:cNvPr id="22" name="Text 20"/>
          <p:cNvSpPr/>
          <p:nvPr/>
        </p:nvSpPr>
        <p:spPr>
          <a:xfrm>
            <a:off x="6355080" y="1280160"/>
            <a:ext cx="2103120" cy="201168"/>
          </a:xfrm>
          <a:prstGeom prst="rect">
            <a:avLst/>
          </a:prstGeom>
          <a:noFill/>
          <a:ln/>
        </p:spPr>
        <p:txBody>
          <a:bodyPr wrap="square" rtlCol="0" anchor="ctr"/>
          <a:lstStyle/>
          <a:p>
            <a:pPr indent="0" marL="0">
              <a:buNone/>
            </a:pPr>
            <a:r>
              <a:rPr lang="en-US" sz="1000" b="1" dirty="0">
                <a:solidFill>
                  <a:srgbClr val="16A34A"/>
                </a:solidFill>
                <a:latin typeface="Calibri" pitchFamily="34" charset="0"/>
                <a:ea typeface="Calibri" pitchFamily="34" charset="-122"/>
                <a:cs typeface="Calibri" pitchFamily="34" charset="-120"/>
              </a:rPr>
              <a:t>DATA &amp; DEPLOYMENT</a:t>
            </a:r>
            <a:endParaRPr lang="en-US" sz="1000" dirty="0"/>
          </a:p>
        </p:txBody>
      </p:sp>
      <p:sp>
        <p:nvSpPr>
          <p:cNvPr id="23" name="Text 21"/>
          <p:cNvSpPr/>
          <p:nvPr/>
        </p:nvSpPr>
        <p:spPr>
          <a:xfrm>
            <a:off x="6355080" y="1481328"/>
            <a:ext cx="2103120" cy="228600"/>
          </a:xfrm>
          <a:prstGeom prst="rect">
            <a:avLst/>
          </a:prstGeom>
          <a:noFill/>
          <a:ln/>
        </p:spPr>
        <p:txBody>
          <a:bodyPr wrap="square"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Cloud Infrastructure</a:t>
            </a:r>
            <a:endParaRPr lang="en-US" sz="1200" dirty="0"/>
          </a:p>
        </p:txBody>
      </p:sp>
      <p:sp>
        <p:nvSpPr>
          <p:cNvPr id="24" name="Text 22"/>
          <p:cNvSpPr/>
          <p:nvPr/>
        </p:nvSpPr>
        <p:spPr>
          <a:xfrm>
            <a:off x="6355080" y="1783080"/>
            <a:ext cx="2103120" cy="2697480"/>
          </a:xfrm>
          <a:prstGeom prst="rect">
            <a:avLst/>
          </a:prstGeom>
          <a:noFill/>
          <a:ln/>
        </p:spPr>
        <p:txBody>
          <a:bodyPr wrap="square" rtlCol="0" anchor="ctr"/>
          <a:lstStyle/>
          <a:p>
            <a:pPr indent="0" marL="0">
              <a:buNone/>
            </a:pPr>
            <a:r>
              <a:rPr lang="en-US" sz="800" b="1" dirty="0">
                <a:solidFill>
                  <a:srgbClr val="0F2942"/>
                </a:solidFill>
                <a:latin typeface="Calibri" pitchFamily="34" charset="0"/>
                <a:ea typeface="Calibri" pitchFamily="34" charset="-122"/>
                <a:cs typeface="Calibri" pitchFamily="34" charset="-120"/>
              </a:rPr>
              <a:t>•  Database Persistence
</a:t>
            </a:r>
            <a:pPr indent="0" marL="0">
              <a:buNone/>
            </a:pPr>
            <a:r>
              <a:rPr lang="en-US" sz="800" dirty="0">
                <a:solidFill>
                  <a:srgbClr val="334155"/>
                </a:solidFill>
                <a:latin typeface="Calibri" pitchFamily="34" charset="0"/>
                <a:ea typeface="Calibri" pitchFamily="34" charset="-122"/>
                <a:cs typeface="Calibri" pitchFamily="34" charset="-120"/>
              </a:rPr>
              <a:t>MongoDB Atlas &amp; PostgreSQL relational mapping for visitor history, user profiles, and accounts.
</a:t>
            </a:r>
            <a:pPr indent="0" marL="0">
              <a:buNone/>
            </a:pPr>
            <a:r>
              <a:rPr lang="en-US" sz="800" b="1" dirty="0">
                <a:solidFill>
                  <a:srgbClr val="0F2942"/>
                </a:solidFill>
                <a:latin typeface="Calibri" pitchFamily="34" charset="0"/>
                <a:ea typeface="Calibri" pitchFamily="34" charset="-122"/>
                <a:cs typeface="Calibri" pitchFamily="34" charset="-120"/>
              </a:rPr>
              <a:t>•  Docker Containerization
</a:t>
            </a:r>
            <a:pPr indent="0" marL="0">
              <a:buNone/>
            </a:pPr>
            <a:r>
              <a:rPr lang="en-US" sz="800" dirty="0">
                <a:solidFill>
                  <a:srgbClr val="334155"/>
                </a:solidFill>
                <a:latin typeface="Calibri" pitchFamily="34" charset="0"/>
                <a:ea typeface="Calibri" pitchFamily="34" charset="-122"/>
                <a:cs typeface="Calibri" pitchFamily="34" charset="-120"/>
              </a:rPr>
              <a:t>Multi-stage Maven + Eclipse Temurin 21 JRE container image hosted on Render Cloud.
</a:t>
            </a:r>
            <a:pPr indent="0" marL="0">
              <a:buNone/>
            </a:pPr>
            <a:r>
              <a:rPr lang="en-US" sz="800" b="1" dirty="0">
                <a:solidFill>
                  <a:srgbClr val="0F2942"/>
                </a:solidFill>
                <a:latin typeface="Calibri" pitchFamily="34" charset="0"/>
                <a:ea typeface="Calibri" pitchFamily="34" charset="-122"/>
                <a:cs typeface="Calibri" pitchFamily="34" charset="-120"/>
              </a:rPr>
              <a:t>•  Static Frontend CDN
</a:t>
            </a:r>
            <a:pPr indent="0" marL="0">
              <a:buNone/>
            </a:pPr>
            <a:r>
              <a:rPr lang="en-US" sz="800" dirty="0">
                <a:solidFill>
                  <a:srgbClr val="334155"/>
                </a:solidFill>
                <a:latin typeface="Calibri" pitchFamily="34" charset="0"/>
                <a:ea typeface="Calibri" pitchFamily="34" charset="-122"/>
                <a:cs typeface="Calibri" pitchFamily="34" charset="-120"/>
              </a:rPr>
              <a:t>Vite production build deployed on GitHub Pages with automated continuous deployment.
</a:t>
            </a:r>
            <a:pPr indent="0" marL="0">
              <a:buNone/>
            </a:pPr>
            <a:r>
              <a:rPr lang="en-US" sz="800" b="1" dirty="0">
                <a:solidFill>
                  <a:srgbClr val="0F2942"/>
                </a:solidFill>
                <a:latin typeface="Calibri" pitchFamily="34" charset="0"/>
                <a:ea typeface="Calibri" pitchFamily="34" charset="-122"/>
                <a:cs typeface="Calibri" pitchFamily="34" charset="-120"/>
              </a:rPr>
              <a:t>•  Automated Nap Stopper
</a:t>
            </a:r>
            <a:pPr indent="0" marL="0">
              <a:buNone/>
            </a:pPr>
            <a:r>
              <a:rPr lang="en-US" sz="800" dirty="0">
                <a:solidFill>
                  <a:srgbClr val="334155"/>
                </a:solidFill>
                <a:latin typeface="Calibri" pitchFamily="34" charset="0"/>
                <a:ea typeface="Calibri" pitchFamily="34" charset="-122"/>
                <a:cs typeface="Calibri" pitchFamily="34" charset="-120"/>
              </a:rPr>
              <a:t>Cron uptime monitor pinging backend health endpoint every 10 minutes for 99.8% uptime.
</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1E40AF"/>
          </a:solidFill>
          <a:ln w="12700">
            <a:solidFill>
              <a:srgbClr val="1E40AF"/>
            </a:solidFill>
            <a:prstDash val="solid"/>
          </a:ln>
        </p:spPr>
      </p:sp>
      <p:sp>
        <p:nvSpPr>
          <p:cNvPr id="3" name="Text 1"/>
          <p:cNvSpPr/>
          <p:nvPr/>
        </p:nvSpPr>
        <p:spPr>
          <a:xfrm>
            <a:off x="548640" y="219456"/>
            <a:ext cx="5486400" cy="201168"/>
          </a:xfrm>
          <a:prstGeom prst="rect">
            <a:avLst/>
          </a:prstGeom>
          <a:noFill/>
          <a:ln/>
        </p:spPr>
        <p:txBody>
          <a:bodyPr wrap="square" rtlCol="0" anchor="ctr"/>
          <a:lstStyle/>
          <a:p>
            <a:pPr indent="0" marL="0">
              <a:buNone/>
            </a:pPr>
            <a:r>
              <a:rPr lang="en-US" sz="850" b="1" dirty="0">
                <a:solidFill>
                  <a:srgbClr val="1E40AF"/>
                </a:solidFill>
                <a:latin typeface="Calibri" pitchFamily="34" charset="0"/>
                <a:ea typeface="Calibri" pitchFamily="34" charset="-122"/>
                <a:cs typeface="Calibri" pitchFamily="34" charset="-120"/>
              </a:rPr>
              <a:t>SECTION 03  |  OPERATIONAL MODEL</a:t>
            </a:r>
            <a:endParaRPr lang="en-US" sz="850" dirty="0"/>
          </a:p>
        </p:txBody>
      </p:sp>
      <p:sp>
        <p:nvSpPr>
          <p:cNvPr id="4" name="Text 2"/>
          <p:cNvSpPr/>
          <p:nvPr/>
        </p:nvSpPr>
        <p:spPr>
          <a:xfrm>
            <a:off x="548640" y="420624"/>
            <a:ext cx="8046720" cy="347472"/>
          </a:xfrm>
          <a:prstGeom prst="rect">
            <a:avLst/>
          </a:prstGeom>
          <a:noFill/>
          <a:ln/>
        </p:spPr>
        <p:txBody>
          <a:bodyPr wrap="square" rtlCol="0" anchor="ctr"/>
          <a:lstStyle/>
          <a:p>
            <a:pPr indent="0" marL="0">
              <a:buNone/>
            </a:pPr>
            <a:r>
              <a:rPr lang="en-US" sz="1800" b="1" dirty="0">
                <a:solidFill>
                  <a:srgbClr val="0F2942"/>
                </a:solidFill>
                <a:latin typeface="Calibri" pitchFamily="34" charset="0"/>
                <a:ea typeface="Calibri" pitchFamily="34" charset="-122"/>
                <a:cs typeface="Calibri" pitchFamily="34" charset="-120"/>
              </a:rPr>
              <a:t>User Roles &amp; Operational Workflows</a:t>
            </a:r>
            <a:endParaRPr lang="en-US" sz="1800" dirty="0"/>
          </a:p>
        </p:txBody>
      </p:sp>
      <p:sp>
        <p:nvSpPr>
          <p:cNvPr id="5" name="Text 3"/>
          <p:cNvSpPr/>
          <p:nvPr/>
        </p:nvSpPr>
        <p:spPr>
          <a:xfrm>
            <a:off x="548640" y="768096"/>
            <a:ext cx="8046720" cy="201168"/>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Three Distinct Permission Levels Ensuring Security, Convenience, and Oversight</a:t>
            </a:r>
            <a:endParaRPr lang="en-US" sz="950" dirty="0"/>
          </a:p>
        </p:txBody>
      </p:sp>
      <p:sp>
        <p:nvSpPr>
          <p:cNvPr id="6" name="Shape 4"/>
          <p:cNvSpPr/>
          <p:nvPr/>
        </p:nvSpPr>
        <p:spPr>
          <a:xfrm>
            <a:off x="548640" y="1005840"/>
            <a:ext cx="8046720" cy="9144"/>
          </a:xfrm>
          <a:prstGeom prst="rect">
            <a:avLst/>
          </a:prstGeom>
          <a:solidFill>
            <a:srgbClr val="E2E8F0"/>
          </a:solidFill>
          <a:ln w="12700">
            <a:solidFill>
              <a:srgbClr val="E2E8F0"/>
            </a:solidFill>
            <a:prstDash val="solid"/>
          </a:ln>
        </p:spPr>
      </p:sp>
      <p:sp>
        <p:nvSpPr>
          <p:cNvPr id="7" name="Shape 5"/>
          <p:cNvSpPr/>
          <p:nvPr/>
        </p:nvSpPr>
        <p:spPr>
          <a:xfrm>
            <a:off x="548640" y="4754880"/>
            <a:ext cx="8046720" cy="9144"/>
          </a:xfrm>
          <a:prstGeom prst="rect">
            <a:avLst/>
          </a:prstGeom>
          <a:solidFill>
            <a:srgbClr val="E2E8F0"/>
          </a:solidFill>
          <a:ln w="12700">
            <a:solidFill>
              <a:srgbClr val="E2E8F0"/>
            </a:solidFill>
            <a:prstDash val="solid"/>
          </a:ln>
        </p:spPr>
      </p:sp>
      <p:sp>
        <p:nvSpPr>
          <p:cNvPr id="8" name="Text 6"/>
          <p:cNvSpPr/>
          <p:nvPr/>
        </p:nvSpPr>
        <p:spPr>
          <a:xfrm>
            <a:off x="548640" y="4800600"/>
            <a:ext cx="5943600" cy="201168"/>
          </a:xfrm>
          <a:prstGeom prst="rect">
            <a:avLst/>
          </a:prstGeom>
          <a:noFill/>
          <a:ln/>
        </p:spPr>
        <p:txBody>
          <a:bodyPr wrap="square" rtlCol="0" anchor="ctr"/>
          <a:lstStyle/>
          <a:p>
            <a:pPr indent="0" marL="0">
              <a:buNone/>
            </a:pPr>
            <a:r>
              <a:rPr lang="en-US" sz="850" dirty="0">
                <a:solidFill>
                  <a:srgbClr val="64748B"/>
                </a:solidFill>
                <a:latin typeface="Calibri" pitchFamily="34" charset="0"/>
                <a:ea typeface="Calibri" pitchFamily="34" charset="-122"/>
                <a:cs typeface="Calibri" pitchFamily="34" charset="-120"/>
              </a:rPr>
              <a:t>GateSync — Smart Society Security System  |  Arpitsinh Thakor (23SE02IE040)</a:t>
            </a:r>
            <a:endParaRPr lang="en-US" sz="850" dirty="0"/>
          </a:p>
        </p:txBody>
      </p:sp>
      <p:sp>
        <p:nvSpPr>
          <p:cNvPr id="9" name="Text 7"/>
          <p:cNvSpPr/>
          <p:nvPr/>
        </p:nvSpPr>
        <p:spPr>
          <a:xfrm>
            <a:off x="6583680" y="4800600"/>
            <a:ext cx="2011680" cy="201168"/>
          </a:xfrm>
          <a:prstGeom prst="rect">
            <a:avLst/>
          </a:prstGeom>
          <a:noFill/>
          <a:ln/>
        </p:spPr>
        <p:txBody>
          <a:bodyPr wrap="square" rtlCol="0" anchor="ctr"/>
          <a:lstStyle/>
          <a:p>
            <a:pPr algn="r" indent="0" marL="0">
              <a:buNone/>
            </a:pPr>
            <a:r>
              <a:rPr lang="en-US" sz="850" b="1" dirty="0">
                <a:solidFill>
                  <a:srgbClr val="1E40AF"/>
                </a:solidFill>
                <a:latin typeface="Calibri" pitchFamily="34" charset="0"/>
                <a:ea typeface="Calibri" pitchFamily="34" charset="-122"/>
                <a:cs typeface="Calibri" pitchFamily="34" charset="-120"/>
              </a:rPr>
              <a:t>SCHOOL OF ENGINEERING  •  SLIDE 4 / 12</a:t>
            </a:r>
            <a:endParaRPr lang="en-US" sz="850" dirty="0"/>
          </a:p>
        </p:txBody>
      </p:sp>
      <p:sp>
        <p:nvSpPr>
          <p:cNvPr id="10" name="Shape 8"/>
          <p:cNvSpPr/>
          <p:nvPr/>
        </p:nvSpPr>
        <p:spPr>
          <a:xfrm>
            <a:off x="548640" y="1143000"/>
            <a:ext cx="2377440" cy="3474720"/>
          </a:xfrm>
          <a:prstGeom prst="rect">
            <a:avLst/>
          </a:prstGeom>
          <a:solidFill>
            <a:srgbClr val="FFFFFF"/>
          </a:solidFill>
          <a:ln w="12700">
            <a:solidFill>
              <a:srgbClr val="E2E8F0"/>
            </a:solidFill>
            <a:prstDash val="solid"/>
          </a:ln>
        </p:spPr>
      </p:sp>
      <p:sp>
        <p:nvSpPr>
          <p:cNvPr id="11" name="Shape 9"/>
          <p:cNvSpPr/>
          <p:nvPr/>
        </p:nvSpPr>
        <p:spPr>
          <a:xfrm>
            <a:off x="548640" y="1143000"/>
            <a:ext cx="2377440" cy="45720"/>
          </a:xfrm>
          <a:prstGeom prst="rect">
            <a:avLst/>
          </a:prstGeom>
          <a:solidFill>
            <a:srgbClr val="1E40AF"/>
          </a:solidFill>
          <a:ln w="12700">
            <a:solidFill>
              <a:srgbClr val="1E40AF"/>
            </a:solidFill>
            <a:prstDash val="solid"/>
          </a:ln>
        </p:spPr>
      </p:sp>
      <p:sp>
        <p:nvSpPr>
          <p:cNvPr id="12" name="Text 10"/>
          <p:cNvSpPr/>
          <p:nvPr/>
        </p:nvSpPr>
        <p:spPr>
          <a:xfrm>
            <a:off x="685800" y="1280160"/>
            <a:ext cx="2103120" cy="201168"/>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GATE ENTRANCE DESK</a:t>
            </a:r>
            <a:endParaRPr lang="en-US" sz="1000" dirty="0"/>
          </a:p>
        </p:txBody>
      </p:sp>
      <p:sp>
        <p:nvSpPr>
          <p:cNvPr id="13" name="Text 11"/>
          <p:cNvSpPr/>
          <p:nvPr/>
        </p:nvSpPr>
        <p:spPr>
          <a:xfrm>
            <a:off x="685800" y="1481328"/>
            <a:ext cx="2103120" cy="228600"/>
          </a:xfrm>
          <a:prstGeom prst="rect">
            <a:avLst/>
          </a:prstGeom>
          <a:noFill/>
          <a:ln/>
        </p:spPr>
        <p:txBody>
          <a:bodyPr wrap="square"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SECURITY GUARD CABIN</a:t>
            </a:r>
            <a:endParaRPr lang="en-US" sz="1200" dirty="0"/>
          </a:p>
        </p:txBody>
      </p:sp>
      <p:sp>
        <p:nvSpPr>
          <p:cNvPr id="14" name="Text 12"/>
          <p:cNvSpPr/>
          <p:nvPr/>
        </p:nvSpPr>
        <p:spPr>
          <a:xfrm>
            <a:off x="685800" y="1737360"/>
            <a:ext cx="2103120" cy="502920"/>
          </a:xfrm>
          <a:prstGeom prst="rect">
            <a:avLst/>
          </a:prstGeom>
          <a:noFill/>
          <a:ln/>
        </p:spPr>
        <p:txBody>
          <a:bodyPr wrap="square" rtlCol="0" anchor="ctr"/>
          <a:lstStyle/>
          <a:p>
            <a:pPr indent="0" marL="0">
              <a:buNone/>
            </a:pPr>
            <a:r>
              <a:rPr lang="en-US" sz="850" dirty="0">
                <a:solidFill>
                  <a:srgbClr val="64748B"/>
                </a:solidFill>
                <a:latin typeface="Calibri" pitchFamily="34" charset="0"/>
                <a:ea typeface="Calibri" pitchFamily="34" charset="-122"/>
                <a:cs typeface="Calibri" pitchFamily="34" charset="-120"/>
              </a:rPr>
              <a:t>Frontline physical checkpoint software designed for rapid data entry with minimal typing.</a:t>
            </a:r>
            <a:endParaRPr lang="en-US" sz="850" dirty="0"/>
          </a:p>
        </p:txBody>
      </p:sp>
      <p:sp>
        <p:nvSpPr>
          <p:cNvPr id="15" name="Text 13"/>
          <p:cNvSpPr/>
          <p:nvPr/>
        </p:nvSpPr>
        <p:spPr>
          <a:xfrm>
            <a:off x="685800" y="2286000"/>
            <a:ext cx="2103120" cy="182880"/>
          </a:xfrm>
          <a:prstGeom prst="rect">
            <a:avLst/>
          </a:prstGeom>
          <a:noFill/>
          <a:ln/>
        </p:spPr>
        <p:txBody>
          <a:bodyPr wrap="square" rtlCol="0" anchor="ctr"/>
          <a:lstStyle/>
          <a:p>
            <a:pPr indent="0" marL="0">
              <a:buNone/>
            </a:pPr>
            <a:r>
              <a:rPr lang="en-US" sz="850" b="1" dirty="0">
                <a:solidFill>
                  <a:srgbClr val="0F172A"/>
                </a:solidFill>
                <a:latin typeface="Calibri" pitchFamily="34" charset="0"/>
                <a:ea typeface="Calibri" pitchFamily="34" charset="-122"/>
                <a:cs typeface="Calibri" pitchFamily="34" charset="-120"/>
              </a:rPr>
              <a:t>CORE RESPONSIBILITIES:</a:t>
            </a:r>
            <a:endParaRPr lang="en-US" sz="850" dirty="0"/>
          </a:p>
        </p:txBody>
      </p:sp>
      <p:sp>
        <p:nvSpPr>
          <p:cNvPr id="16" name="Text 14"/>
          <p:cNvSpPr/>
          <p:nvPr/>
        </p:nvSpPr>
        <p:spPr>
          <a:xfrm>
            <a:off x="685800" y="2514600"/>
            <a:ext cx="2103120" cy="1965960"/>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  Register unexpected visitors in under 10 seconds.</a:t>
            </a:r>
            <a:endParaRPr lang="en-US" sz="850" dirty="0"/>
          </a:p>
          <a:p>
            <a:pPr indent="0" marL="0">
              <a:buNone/>
            </a:pP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  One-click quick delivery intake for courier services.</a:t>
            </a:r>
            <a:endParaRPr lang="en-US" sz="850" dirty="0"/>
          </a:p>
          <a:p>
            <a:pPr indent="0" marL="0">
              <a:buNone/>
            </a:pP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  Verify pre-approved guest QR passes with device camera.</a:t>
            </a:r>
            <a:endParaRPr lang="en-US" sz="850" dirty="0"/>
          </a:p>
          <a:p>
            <a:pPr indent="0" marL="0">
              <a:buNone/>
            </a:pP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  Track live visitor queue and log vehicle registration.</a:t>
            </a:r>
            <a:endParaRPr lang="en-US" sz="850" dirty="0"/>
          </a:p>
        </p:txBody>
      </p:sp>
      <p:sp>
        <p:nvSpPr>
          <p:cNvPr id="17" name="Shape 15"/>
          <p:cNvSpPr/>
          <p:nvPr/>
        </p:nvSpPr>
        <p:spPr>
          <a:xfrm>
            <a:off x="3383280" y="1143000"/>
            <a:ext cx="2377440" cy="3474720"/>
          </a:xfrm>
          <a:prstGeom prst="rect">
            <a:avLst/>
          </a:prstGeom>
          <a:solidFill>
            <a:srgbClr val="FFFFFF"/>
          </a:solidFill>
          <a:ln w="12700">
            <a:solidFill>
              <a:srgbClr val="E2E8F0"/>
            </a:solidFill>
            <a:prstDash val="solid"/>
          </a:ln>
        </p:spPr>
      </p:sp>
      <p:sp>
        <p:nvSpPr>
          <p:cNvPr id="18" name="Shape 16"/>
          <p:cNvSpPr/>
          <p:nvPr/>
        </p:nvSpPr>
        <p:spPr>
          <a:xfrm>
            <a:off x="3383280" y="1143000"/>
            <a:ext cx="2377440" cy="45720"/>
          </a:xfrm>
          <a:prstGeom prst="rect">
            <a:avLst/>
          </a:prstGeom>
          <a:solidFill>
            <a:srgbClr val="0F2942"/>
          </a:solidFill>
          <a:ln w="12700">
            <a:solidFill>
              <a:srgbClr val="0F2942"/>
            </a:solidFill>
            <a:prstDash val="solid"/>
          </a:ln>
        </p:spPr>
      </p:sp>
      <p:sp>
        <p:nvSpPr>
          <p:cNvPr id="19" name="Text 17"/>
          <p:cNvSpPr/>
          <p:nvPr/>
        </p:nvSpPr>
        <p:spPr>
          <a:xfrm>
            <a:off x="3520440" y="1280160"/>
            <a:ext cx="2103120" cy="201168"/>
          </a:xfrm>
          <a:prstGeom prst="rect">
            <a:avLst/>
          </a:prstGeom>
          <a:noFill/>
          <a:ln/>
        </p:spPr>
        <p:txBody>
          <a:bodyPr wrap="square" rtlCol="0" anchor="ctr"/>
          <a:lstStyle/>
          <a:p>
            <a:pPr indent="0" marL="0">
              <a:buNone/>
            </a:pPr>
            <a:r>
              <a:rPr lang="en-US" sz="1000" b="1" dirty="0">
                <a:solidFill>
                  <a:srgbClr val="0F2942"/>
                </a:solidFill>
                <a:latin typeface="Calibri" pitchFamily="34" charset="0"/>
                <a:ea typeface="Calibri" pitchFamily="34" charset="-122"/>
                <a:cs typeface="Calibri" pitchFamily="34" charset="-120"/>
              </a:rPr>
              <a:t>SMARTPHONE PWA</a:t>
            </a:r>
            <a:endParaRPr lang="en-US" sz="1000" dirty="0"/>
          </a:p>
        </p:txBody>
      </p:sp>
      <p:sp>
        <p:nvSpPr>
          <p:cNvPr id="20" name="Text 18"/>
          <p:cNvSpPr/>
          <p:nvPr/>
        </p:nvSpPr>
        <p:spPr>
          <a:xfrm>
            <a:off x="3520440" y="1481328"/>
            <a:ext cx="2103120" cy="228600"/>
          </a:xfrm>
          <a:prstGeom prst="rect">
            <a:avLst/>
          </a:prstGeom>
          <a:noFill/>
          <a:ln/>
        </p:spPr>
        <p:txBody>
          <a:bodyPr wrap="square"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RESIDENT PORTAL</a:t>
            </a:r>
            <a:endParaRPr lang="en-US" sz="1200" dirty="0"/>
          </a:p>
        </p:txBody>
      </p:sp>
      <p:sp>
        <p:nvSpPr>
          <p:cNvPr id="21" name="Text 19"/>
          <p:cNvSpPr/>
          <p:nvPr/>
        </p:nvSpPr>
        <p:spPr>
          <a:xfrm>
            <a:off x="3520440" y="1737360"/>
            <a:ext cx="2103120" cy="502920"/>
          </a:xfrm>
          <a:prstGeom prst="rect">
            <a:avLst/>
          </a:prstGeom>
          <a:noFill/>
          <a:ln/>
        </p:spPr>
        <p:txBody>
          <a:bodyPr wrap="square" rtlCol="0" anchor="ctr"/>
          <a:lstStyle/>
          <a:p>
            <a:pPr indent="0" marL="0">
              <a:buNone/>
            </a:pPr>
            <a:r>
              <a:rPr lang="en-US" sz="850" dirty="0">
                <a:solidFill>
                  <a:srgbClr val="64748B"/>
                </a:solidFill>
                <a:latin typeface="Calibri" pitchFamily="34" charset="0"/>
                <a:ea typeface="Calibri" pitchFamily="34" charset="-122"/>
                <a:cs typeface="Calibri" pitchFamily="34" charset="-120"/>
              </a:rPr>
              <a:t>Personal resident portal granting flat owners complete control over gate admissions.</a:t>
            </a:r>
            <a:endParaRPr lang="en-US" sz="850" dirty="0"/>
          </a:p>
        </p:txBody>
      </p:sp>
      <p:sp>
        <p:nvSpPr>
          <p:cNvPr id="22" name="Text 20"/>
          <p:cNvSpPr/>
          <p:nvPr/>
        </p:nvSpPr>
        <p:spPr>
          <a:xfrm>
            <a:off x="3520440" y="2286000"/>
            <a:ext cx="2103120" cy="182880"/>
          </a:xfrm>
          <a:prstGeom prst="rect">
            <a:avLst/>
          </a:prstGeom>
          <a:noFill/>
          <a:ln/>
        </p:spPr>
        <p:txBody>
          <a:bodyPr wrap="square" rtlCol="0" anchor="ctr"/>
          <a:lstStyle/>
          <a:p>
            <a:pPr indent="0" marL="0">
              <a:buNone/>
            </a:pPr>
            <a:r>
              <a:rPr lang="en-US" sz="850" b="1" dirty="0">
                <a:solidFill>
                  <a:srgbClr val="0F172A"/>
                </a:solidFill>
                <a:latin typeface="Calibri" pitchFamily="34" charset="0"/>
                <a:ea typeface="Calibri" pitchFamily="34" charset="-122"/>
                <a:cs typeface="Calibri" pitchFamily="34" charset="-120"/>
              </a:rPr>
              <a:t>CORE RESPONSIBILITIES:</a:t>
            </a:r>
            <a:endParaRPr lang="en-US" sz="850" dirty="0"/>
          </a:p>
        </p:txBody>
      </p:sp>
      <p:sp>
        <p:nvSpPr>
          <p:cNvPr id="23" name="Text 21"/>
          <p:cNvSpPr/>
          <p:nvPr/>
        </p:nvSpPr>
        <p:spPr>
          <a:xfrm>
            <a:off x="3520440" y="2514600"/>
            <a:ext cx="2103120" cy="1965960"/>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  Receive instant real-time pop-up alerts on visitor arrival.</a:t>
            </a:r>
            <a:endParaRPr lang="en-US" sz="850" dirty="0"/>
          </a:p>
          <a:p>
            <a:pPr indent="0" marL="0">
              <a:buNone/>
            </a:pP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  1-Tap Approve or Deny visitor gate access remotely.</a:t>
            </a:r>
            <a:endParaRPr lang="en-US" sz="850" dirty="0"/>
          </a:p>
          <a:p>
            <a:pPr indent="0" marL="0">
              <a:buNone/>
            </a:pP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  Generate pre-approved digital QR passes for guests &amp; family.</a:t>
            </a:r>
            <a:endParaRPr lang="en-US" sz="850" dirty="0"/>
          </a:p>
          <a:p>
            <a:pPr indent="0" marL="0">
              <a:buNone/>
            </a:pP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  View flat visitor logs and manage authorized vehicles.</a:t>
            </a:r>
            <a:endParaRPr lang="en-US" sz="850" dirty="0"/>
          </a:p>
        </p:txBody>
      </p:sp>
      <p:sp>
        <p:nvSpPr>
          <p:cNvPr id="24" name="Shape 22"/>
          <p:cNvSpPr/>
          <p:nvPr/>
        </p:nvSpPr>
        <p:spPr>
          <a:xfrm>
            <a:off x="6217920" y="1143000"/>
            <a:ext cx="2377440" cy="3474720"/>
          </a:xfrm>
          <a:prstGeom prst="rect">
            <a:avLst/>
          </a:prstGeom>
          <a:solidFill>
            <a:srgbClr val="FFFFFF"/>
          </a:solidFill>
          <a:ln w="12700">
            <a:solidFill>
              <a:srgbClr val="E2E8F0"/>
            </a:solidFill>
            <a:prstDash val="solid"/>
          </a:ln>
        </p:spPr>
      </p:sp>
      <p:sp>
        <p:nvSpPr>
          <p:cNvPr id="25" name="Shape 23"/>
          <p:cNvSpPr/>
          <p:nvPr/>
        </p:nvSpPr>
        <p:spPr>
          <a:xfrm>
            <a:off x="6217920" y="1143000"/>
            <a:ext cx="2377440" cy="45720"/>
          </a:xfrm>
          <a:prstGeom prst="rect">
            <a:avLst/>
          </a:prstGeom>
          <a:solidFill>
            <a:srgbClr val="16A34A"/>
          </a:solidFill>
          <a:ln w="12700">
            <a:solidFill>
              <a:srgbClr val="16A34A"/>
            </a:solidFill>
            <a:prstDash val="solid"/>
          </a:ln>
        </p:spPr>
      </p:sp>
      <p:sp>
        <p:nvSpPr>
          <p:cNvPr id="26" name="Text 24"/>
          <p:cNvSpPr/>
          <p:nvPr/>
        </p:nvSpPr>
        <p:spPr>
          <a:xfrm>
            <a:off x="6355080" y="1280160"/>
            <a:ext cx="2103120" cy="201168"/>
          </a:xfrm>
          <a:prstGeom prst="rect">
            <a:avLst/>
          </a:prstGeom>
          <a:noFill/>
          <a:ln/>
        </p:spPr>
        <p:txBody>
          <a:bodyPr wrap="square" rtlCol="0" anchor="ctr"/>
          <a:lstStyle/>
          <a:p>
            <a:pPr indent="0" marL="0">
              <a:buNone/>
            </a:pPr>
            <a:r>
              <a:rPr lang="en-US" sz="1000" b="1" dirty="0">
                <a:solidFill>
                  <a:srgbClr val="16A34A"/>
                </a:solidFill>
                <a:latin typeface="Calibri" pitchFamily="34" charset="0"/>
                <a:ea typeface="Calibri" pitchFamily="34" charset="-122"/>
                <a:cs typeface="Calibri" pitchFamily="34" charset="-120"/>
              </a:rPr>
              <a:t>ADMIN COMMAND CENTER</a:t>
            </a:r>
            <a:endParaRPr lang="en-US" sz="1000" dirty="0"/>
          </a:p>
        </p:txBody>
      </p:sp>
      <p:sp>
        <p:nvSpPr>
          <p:cNvPr id="27" name="Text 25"/>
          <p:cNvSpPr/>
          <p:nvPr/>
        </p:nvSpPr>
        <p:spPr>
          <a:xfrm>
            <a:off x="6355080" y="1481328"/>
            <a:ext cx="2103120" cy="228600"/>
          </a:xfrm>
          <a:prstGeom prst="rect">
            <a:avLst/>
          </a:prstGeom>
          <a:noFill/>
          <a:ln/>
        </p:spPr>
        <p:txBody>
          <a:bodyPr wrap="square"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SOCIETY MANAGEMENT</a:t>
            </a:r>
            <a:endParaRPr lang="en-US" sz="1200" dirty="0"/>
          </a:p>
        </p:txBody>
      </p:sp>
      <p:sp>
        <p:nvSpPr>
          <p:cNvPr id="28" name="Text 26"/>
          <p:cNvSpPr/>
          <p:nvPr/>
        </p:nvSpPr>
        <p:spPr>
          <a:xfrm>
            <a:off x="6355080" y="1737360"/>
            <a:ext cx="2103120" cy="502920"/>
          </a:xfrm>
          <a:prstGeom prst="rect">
            <a:avLst/>
          </a:prstGeom>
          <a:noFill/>
          <a:ln/>
        </p:spPr>
        <p:txBody>
          <a:bodyPr wrap="square" rtlCol="0" anchor="ctr"/>
          <a:lstStyle/>
          <a:p>
            <a:pPr indent="0" marL="0">
              <a:buNone/>
            </a:pPr>
            <a:r>
              <a:rPr lang="en-US" sz="850" dirty="0">
                <a:solidFill>
                  <a:srgbClr val="64748B"/>
                </a:solidFill>
                <a:latin typeface="Calibri" pitchFamily="34" charset="0"/>
                <a:ea typeface="Calibri" pitchFamily="34" charset="-122"/>
                <a:cs typeface="Calibri" pitchFamily="34" charset="-120"/>
              </a:rPr>
              <a:t>Centralized administration dashboard for committee members and facility supervisors.</a:t>
            </a:r>
            <a:endParaRPr lang="en-US" sz="850" dirty="0"/>
          </a:p>
        </p:txBody>
      </p:sp>
      <p:sp>
        <p:nvSpPr>
          <p:cNvPr id="29" name="Text 27"/>
          <p:cNvSpPr/>
          <p:nvPr/>
        </p:nvSpPr>
        <p:spPr>
          <a:xfrm>
            <a:off x="6355080" y="2286000"/>
            <a:ext cx="2103120" cy="182880"/>
          </a:xfrm>
          <a:prstGeom prst="rect">
            <a:avLst/>
          </a:prstGeom>
          <a:noFill/>
          <a:ln/>
        </p:spPr>
        <p:txBody>
          <a:bodyPr wrap="square" rtlCol="0" anchor="ctr"/>
          <a:lstStyle/>
          <a:p>
            <a:pPr indent="0" marL="0">
              <a:buNone/>
            </a:pPr>
            <a:r>
              <a:rPr lang="en-US" sz="850" b="1" dirty="0">
                <a:solidFill>
                  <a:srgbClr val="0F172A"/>
                </a:solidFill>
                <a:latin typeface="Calibri" pitchFamily="34" charset="0"/>
                <a:ea typeface="Calibri" pitchFamily="34" charset="-122"/>
                <a:cs typeface="Calibri" pitchFamily="34" charset="-120"/>
              </a:rPr>
              <a:t>CORE RESPONSIBILITIES:</a:t>
            </a:r>
            <a:endParaRPr lang="en-US" sz="850" dirty="0"/>
          </a:p>
        </p:txBody>
      </p:sp>
      <p:sp>
        <p:nvSpPr>
          <p:cNvPr id="30" name="Text 28"/>
          <p:cNvSpPr/>
          <p:nvPr/>
        </p:nvSpPr>
        <p:spPr>
          <a:xfrm>
            <a:off x="6355080" y="2514600"/>
            <a:ext cx="2103120" cy="1965960"/>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  Oversee real-time visitor logs and complete entry audits.</a:t>
            </a:r>
            <a:endParaRPr lang="en-US" sz="850" dirty="0"/>
          </a:p>
          <a:p>
            <a:pPr indent="0" marL="0">
              <a:buNone/>
            </a:pP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  Manage society member directory, flats, and tenant status.</a:t>
            </a:r>
            <a:endParaRPr lang="en-US" sz="850" dirty="0"/>
          </a:p>
          <a:p>
            <a:pPr indent="0" marL="0">
              <a:buNone/>
            </a:pP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  Generate and track society maintenance fee collections.</a:t>
            </a:r>
            <a:endParaRPr lang="en-US" sz="850" dirty="0"/>
          </a:p>
          <a:p>
            <a:pPr indent="0" marL="0">
              <a:buNone/>
            </a:pP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  Publish emergency alerts and community announcements.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1E40AF"/>
          </a:solidFill>
          <a:ln w="12700">
            <a:solidFill>
              <a:srgbClr val="1E40AF"/>
            </a:solidFill>
            <a:prstDash val="solid"/>
          </a:ln>
        </p:spPr>
      </p:sp>
      <p:sp>
        <p:nvSpPr>
          <p:cNvPr id="3" name="Text 1"/>
          <p:cNvSpPr/>
          <p:nvPr/>
        </p:nvSpPr>
        <p:spPr>
          <a:xfrm>
            <a:off x="548640" y="219456"/>
            <a:ext cx="5486400" cy="201168"/>
          </a:xfrm>
          <a:prstGeom prst="rect">
            <a:avLst/>
          </a:prstGeom>
          <a:noFill/>
          <a:ln/>
        </p:spPr>
        <p:txBody>
          <a:bodyPr wrap="square" rtlCol="0" anchor="ctr"/>
          <a:lstStyle/>
          <a:p>
            <a:pPr indent="0" marL="0">
              <a:buNone/>
            </a:pPr>
            <a:r>
              <a:rPr lang="en-US" sz="850" b="1" dirty="0">
                <a:solidFill>
                  <a:srgbClr val="1E40AF"/>
                </a:solidFill>
                <a:latin typeface="Calibri" pitchFamily="34" charset="0"/>
                <a:ea typeface="Calibri" pitchFamily="34" charset="-122"/>
                <a:cs typeface="Calibri" pitchFamily="34" charset="-120"/>
              </a:rPr>
              <a:t>SECTION 04  |  MODULE DEEP-DIVE</a:t>
            </a:r>
            <a:endParaRPr lang="en-US" sz="850" dirty="0"/>
          </a:p>
        </p:txBody>
      </p:sp>
      <p:sp>
        <p:nvSpPr>
          <p:cNvPr id="4" name="Text 2"/>
          <p:cNvSpPr/>
          <p:nvPr/>
        </p:nvSpPr>
        <p:spPr>
          <a:xfrm>
            <a:off x="548640" y="420624"/>
            <a:ext cx="8046720" cy="347472"/>
          </a:xfrm>
          <a:prstGeom prst="rect">
            <a:avLst/>
          </a:prstGeom>
          <a:noFill/>
          <a:ln/>
        </p:spPr>
        <p:txBody>
          <a:bodyPr wrap="square" rtlCol="0" anchor="ctr"/>
          <a:lstStyle/>
          <a:p>
            <a:pPr indent="0" marL="0">
              <a:buNone/>
            </a:pPr>
            <a:r>
              <a:rPr lang="en-US" sz="1800" b="1" dirty="0">
                <a:solidFill>
                  <a:srgbClr val="0F2942"/>
                </a:solidFill>
                <a:latin typeface="Calibri" pitchFamily="34" charset="0"/>
                <a:ea typeface="Calibri" pitchFamily="34" charset="-122"/>
                <a:cs typeface="Calibri" pitchFamily="34" charset="-120"/>
              </a:rPr>
              <a:t>Security Guard Cabin Desk &amp; Quick Entry</a:t>
            </a:r>
            <a:endParaRPr lang="en-US" sz="1800" dirty="0"/>
          </a:p>
        </p:txBody>
      </p:sp>
      <p:sp>
        <p:nvSpPr>
          <p:cNvPr id="5" name="Text 3"/>
          <p:cNvSpPr/>
          <p:nvPr/>
        </p:nvSpPr>
        <p:spPr>
          <a:xfrm>
            <a:off x="548640" y="768096"/>
            <a:ext cx="8046720" cy="201168"/>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High-Speed Visitor Intake Flow Engineered for Zero Gate Congestion</a:t>
            </a:r>
            <a:endParaRPr lang="en-US" sz="950" dirty="0"/>
          </a:p>
        </p:txBody>
      </p:sp>
      <p:sp>
        <p:nvSpPr>
          <p:cNvPr id="6" name="Shape 4"/>
          <p:cNvSpPr/>
          <p:nvPr/>
        </p:nvSpPr>
        <p:spPr>
          <a:xfrm>
            <a:off x="548640" y="1005840"/>
            <a:ext cx="8046720" cy="9144"/>
          </a:xfrm>
          <a:prstGeom prst="rect">
            <a:avLst/>
          </a:prstGeom>
          <a:solidFill>
            <a:srgbClr val="E2E8F0"/>
          </a:solidFill>
          <a:ln w="12700">
            <a:solidFill>
              <a:srgbClr val="E2E8F0"/>
            </a:solidFill>
            <a:prstDash val="solid"/>
          </a:ln>
        </p:spPr>
      </p:sp>
      <p:sp>
        <p:nvSpPr>
          <p:cNvPr id="7" name="Shape 5"/>
          <p:cNvSpPr/>
          <p:nvPr/>
        </p:nvSpPr>
        <p:spPr>
          <a:xfrm>
            <a:off x="548640" y="4754880"/>
            <a:ext cx="8046720" cy="9144"/>
          </a:xfrm>
          <a:prstGeom prst="rect">
            <a:avLst/>
          </a:prstGeom>
          <a:solidFill>
            <a:srgbClr val="E2E8F0"/>
          </a:solidFill>
          <a:ln w="12700">
            <a:solidFill>
              <a:srgbClr val="E2E8F0"/>
            </a:solidFill>
            <a:prstDash val="solid"/>
          </a:ln>
        </p:spPr>
      </p:sp>
      <p:sp>
        <p:nvSpPr>
          <p:cNvPr id="8" name="Text 6"/>
          <p:cNvSpPr/>
          <p:nvPr/>
        </p:nvSpPr>
        <p:spPr>
          <a:xfrm>
            <a:off x="548640" y="4800600"/>
            <a:ext cx="5943600" cy="201168"/>
          </a:xfrm>
          <a:prstGeom prst="rect">
            <a:avLst/>
          </a:prstGeom>
          <a:noFill/>
          <a:ln/>
        </p:spPr>
        <p:txBody>
          <a:bodyPr wrap="square" rtlCol="0" anchor="ctr"/>
          <a:lstStyle/>
          <a:p>
            <a:pPr indent="0" marL="0">
              <a:buNone/>
            </a:pPr>
            <a:r>
              <a:rPr lang="en-US" sz="850" dirty="0">
                <a:solidFill>
                  <a:srgbClr val="64748B"/>
                </a:solidFill>
                <a:latin typeface="Calibri" pitchFamily="34" charset="0"/>
                <a:ea typeface="Calibri" pitchFamily="34" charset="-122"/>
                <a:cs typeface="Calibri" pitchFamily="34" charset="-120"/>
              </a:rPr>
              <a:t>GateSync — Smart Society Security System  |  Arpitsinh Thakor (23SE02IE040)</a:t>
            </a:r>
            <a:endParaRPr lang="en-US" sz="850" dirty="0"/>
          </a:p>
        </p:txBody>
      </p:sp>
      <p:sp>
        <p:nvSpPr>
          <p:cNvPr id="9" name="Text 7"/>
          <p:cNvSpPr/>
          <p:nvPr/>
        </p:nvSpPr>
        <p:spPr>
          <a:xfrm>
            <a:off x="6583680" y="4800600"/>
            <a:ext cx="2011680" cy="201168"/>
          </a:xfrm>
          <a:prstGeom prst="rect">
            <a:avLst/>
          </a:prstGeom>
          <a:noFill/>
          <a:ln/>
        </p:spPr>
        <p:txBody>
          <a:bodyPr wrap="square" rtlCol="0" anchor="ctr"/>
          <a:lstStyle/>
          <a:p>
            <a:pPr algn="r" indent="0" marL="0">
              <a:buNone/>
            </a:pPr>
            <a:r>
              <a:rPr lang="en-US" sz="850" b="1" dirty="0">
                <a:solidFill>
                  <a:srgbClr val="1E40AF"/>
                </a:solidFill>
                <a:latin typeface="Calibri" pitchFamily="34" charset="0"/>
                <a:ea typeface="Calibri" pitchFamily="34" charset="-122"/>
                <a:cs typeface="Calibri" pitchFamily="34" charset="-120"/>
              </a:rPr>
              <a:t>SCHOOL OF ENGINEERING  •  SLIDE 5 / 12</a:t>
            </a:r>
            <a:endParaRPr lang="en-US" sz="850" dirty="0"/>
          </a:p>
        </p:txBody>
      </p:sp>
      <p:sp>
        <p:nvSpPr>
          <p:cNvPr id="10" name="Shape 8"/>
          <p:cNvSpPr/>
          <p:nvPr/>
        </p:nvSpPr>
        <p:spPr>
          <a:xfrm>
            <a:off x="548640" y="1143000"/>
            <a:ext cx="3657600" cy="3474720"/>
          </a:xfrm>
          <a:prstGeom prst="rect">
            <a:avLst/>
          </a:prstGeom>
          <a:solidFill>
            <a:srgbClr val="FFFFFF"/>
          </a:solidFill>
          <a:ln w="12700">
            <a:solidFill>
              <a:srgbClr val="E2E8F0"/>
            </a:solidFill>
            <a:prstDash val="solid"/>
          </a:ln>
        </p:spPr>
      </p:sp>
      <p:sp>
        <p:nvSpPr>
          <p:cNvPr id="11" name="Shape 9"/>
          <p:cNvSpPr/>
          <p:nvPr/>
        </p:nvSpPr>
        <p:spPr>
          <a:xfrm>
            <a:off x="548640" y="1143000"/>
            <a:ext cx="73152" cy="3474720"/>
          </a:xfrm>
          <a:prstGeom prst="rect">
            <a:avLst/>
          </a:prstGeom>
          <a:solidFill>
            <a:srgbClr val="1E40AF"/>
          </a:solidFill>
          <a:ln w="12700">
            <a:solidFill>
              <a:srgbClr val="1E40AF"/>
            </a:solidFill>
            <a:prstDash val="solid"/>
          </a:ln>
        </p:spPr>
      </p:sp>
      <p:sp>
        <p:nvSpPr>
          <p:cNvPr id="12" name="Text 10"/>
          <p:cNvSpPr/>
          <p:nvPr/>
        </p:nvSpPr>
        <p:spPr>
          <a:xfrm>
            <a:off x="777240" y="1280160"/>
            <a:ext cx="3291840" cy="256032"/>
          </a:xfrm>
          <a:prstGeom prst="rect">
            <a:avLst/>
          </a:prstGeom>
          <a:noFill/>
          <a:ln/>
        </p:spPr>
        <p:txBody>
          <a:bodyPr wrap="square" rtlCol="0" anchor="ctr"/>
          <a:lstStyle/>
          <a:p>
            <a:pPr indent="0" marL="0">
              <a:buNone/>
            </a:pPr>
            <a:r>
              <a:rPr lang="en-US" sz="1100" b="1" dirty="0">
                <a:solidFill>
                  <a:srgbClr val="1E40AF"/>
                </a:solidFill>
                <a:latin typeface="Calibri" pitchFamily="34" charset="0"/>
                <a:ea typeface="Calibri" pitchFamily="34" charset="-122"/>
                <a:cs typeface="Calibri" pitchFamily="34" charset="-120"/>
              </a:rPr>
              <a:t>KEY GUARD DESK CAPABILITIES</a:t>
            </a:r>
            <a:endParaRPr lang="en-US" sz="1100" dirty="0"/>
          </a:p>
        </p:txBody>
      </p:sp>
      <p:sp>
        <p:nvSpPr>
          <p:cNvPr id="13" name="Text 11"/>
          <p:cNvSpPr/>
          <p:nvPr/>
        </p:nvSpPr>
        <p:spPr>
          <a:xfrm>
            <a:off x="777240" y="1600200"/>
            <a:ext cx="3291840" cy="2880360"/>
          </a:xfrm>
          <a:prstGeom prst="rect">
            <a:avLst/>
          </a:prstGeom>
          <a:noFill/>
          <a:ln/>
        </p:spPr>
        <p:txBody>
          <a:bodyPr wrap="square" rtlCol="0" anchor="ctr"/>
          <a:lstStyle/>
          <a:p>
            <a:pPr indent="0" marL="0">
              <a:buNone/>
            </a:pPr>
            <a:r>
              <a:rPr lang="en-US" sz="850" b="1" dirty="0">
                <a:solidFill>
                  <a:srgbClr val="0F172A"/>
                </a:solidFill>
                <a:latin typeface="Calibri" pitchFamily="34" charset="0"/>
                <a:ea typeface="Calibri" pitchFamily="34" charset="-122"/>
                <a:cs typeface="Calibri" pitchFamily="34" charset="-120"/>
              </a:rPr>
              <a:t>•  Sub-10 Second Visitor Intake
</a:t>
            </a:r>
            <a:pPr indent="0" marL="0">
              <a:buNone/>
            </a:pPr>
            <a:r>
              <a:rPr lang="en-US" sz="850" dirty="0">
                <a:solidFill>
                  <a:srgbClr val="334155"/>
                </a:solidFill>
                <a:latin typeface="Calibri" pitchFamily="34" charset="0"/>
                <a:ea typeface="Calibri" pitchFamily="34" charset="-122"/>
                <a:cs typeface="Calibri" pitchFamily="34" charset="-120"/>
              </a:rPr>
              <a:t>Smart dropdowns for Building Block and Flat numbers auto-populate resident details, minimizing guard typing.
</a:t>
            </a:r>
            <a:pPr indent="0" marL="0">
              <a:buNone/>
            </a:pPr>
            <a:r>
              <a:rPr lang="en-US" sz="850" b="1" dirty="0">
                <a:solidFill>
                  <a:srgbClr val="0F172A"/>
                </a:solidFill>
                <a:latin typeface="Calibri" pitchFamily="34" charset="0"/>
                <a:ea typeface="Calibri" pitchFamily="34" charset="-122"/>
                <a:cs typeface="Calibri" pitchFamily="34" charset="-120"/>
              </a:rPr>
              <a:t>•  One-Tap Courier Buttons
</a:t>
            </a:r>
            <a:pPr indent="0" marL="0">
              <a:buNone/>
            </a:pPr>
            <a:r>
              <a:rPr lang="en-US" sz="850" dirty="0">
                <a:solidFill>
                  <a:srgbClr val="334155"/>
                </a:solidFill>
                <a:latin typeface="Calibri" pitchFamily="34" charset="0"/>
                <a:ea typeface="Calibri" pitchFamily="34" charset="-122"/>
                <a:cs typeface="Calibri" pitchFamily="34" charset="-120"/>
              </a:rPr>
              <a:t>Pre-configured buttons for Amazon, Flipkart, Swiggy, and Zomato instantly clear verified couriers without manual log overhead.
</a:t>
            </a:r>
            <a:pPr indent="0" marL="0">
              <a:buNone/>
            </a:pPr>
            <a:r>
              <a:rPr lang="en-US" sz="850" b="1" dirty="0">
                <a:solidFill>
                  <a:srgbClr val="0F172A"/>
                </a:solidFill>
                <a:latin typeface="Calibri" pitchFamily="34" charset="0"/>
                <a:ea typeface="Calibri" pitchFamily="34" charset="-122"/>
                <a:cs typeface="Calibri" pitchFamily="34" charset="-120"/>
              </a:rPr>
              <a:t>•  Live Status Queue Synchronization
</a:t>
            </a:r>
            <a:pPr indent="0" marL="0">
              <a:buNone/>
            </a:pPr>
            <a:r>
              <a:rPr lang="en-US" sz="850" dirty="0">
                <a:solidFill>
                  <a:srgbClr val="334155"/>
                </a:solidFill>
                <a:latin typeface="Calibri" pitchFamily="34" charset="0"/>
                <a:ea typeface="Calibri" pitchFamily="34" charset="-122"/>
                <a:cs typeface="Calibri" pitchFamily="34" charset="-120"/>
              </a:rPr>
              <a:t>Visual color-coded badges (Pending: Amber, Approved: Green, Denied: Red) update instantly via WebSockets as residents respond.
</a:t>
            </a:r>
            <a:pPr indent="0" marL="0">
              <a:buNone/>
            </a:pPr>
            <a:r>
              <a:rPr lang="en-US" sz="850" b="1" dirty="0">
                <a:solidFill>
                  <a:srgbClr val="0F172A"/>
                </a:solidFill>
                <a:latin typeface="Calibri" pitchFamily="34" charset="0"/>
                <a:ea typeface="Calibri" pitchFamily="34" charset="-122"/>
                <a:cs typeface="Calibri" pitchFamily="34" charset="-120"/>
              </a:rPr>
              <a:t>•  Visitor Photo &amp; Vehicle Capture
</a:t>
            </a:r>
            <a:pPr indent="0" marL="0">
              <a:buNone/>
            </a:pPr>
            <a:r>
              <a:rPr lang="en-US" sz="850" dirty="0">
                <a:solidFill>
                  <a:srgbClr val="334155"/>
                </a:solidFill>
                <a:latin typeface="Calibri" pitchFamily="34" charset="0"/>
                <a:ea typeface="Calibri" pitchFamily="34" charset="-122"/>
                <a:cs typeface="Calibri" pitchFamily="34" charset="-120"/>
              </a:rPr>
              <a:t>WebRTC camera integration allows guards to attach a live visitor face snapshot and record vehicle registration numbers.</a:t>
            </a:r>
            <a:endParaRPr lang="en-US" sz="850" dirty="0"/>
          </a:p>
        </p:txBody>
      </p:sp>
      <p:sp>
        <p:nvSpPr>
          <p:cNvPr id="14" name="Shape 12"/>
          <p:cNvSpPr/>
          <p:nvPr/>
        </p:nvSpPr>
        <p:spPr>
          <a:xfrm>
            <a:off x="4434840" y="1143000"/>
            <a:ext cx="4160520" cy="3474720"/>
          </a:xfrm>
          <a:prstGeom prst="rect">
            <a:avLst/>
          </a:prstGeom>
          <a:solidFill>
            <a:srgbClr val="FFFFFF"/>
          </a:solidFill>
          <a:ln w="12700">
            <a:solidFill>
              <a:srgbClr val="E2E8F0"/>
            </a:solidFill>
            <a:prstDash val="solid"/>
          </a:ln>
        </p:spPr>
      </p:sp>
      <p:sp>
        <p:nvSpPr>
          <p:cNvPr id="15" name="Text 13"/>
          <p:cNvSpPr/>
          <p:nvPr/>
        </p:nvSpPr>
        <p:spPr>
          <a:xfrm>
            <a:off x="4617720" y="1280160"/>
            <a:ext cx="3794760" cy="228600"/>
          </a:xfrm>
          <a:prstGeom prst="rect">
            <a:avLst/>
          </a:prstGeom>
          <a:noFill/>
          <a:ln/>
        </p:spPr>
        <p:txBody>
          <a:bodyPr wrap="square" rtlCol="0" anchor="ctr"/>
          <a:lstStyle/>
          <a:p>
            <a:pPr indent="0" marL="0">
              <a:buNone/>
            </a:pPr>
            <a:r>
              <a:rPr lang="en-US" sz="950" b="1" dirty="0">
                <a:solidFill>
                  <a:srgbClr val="0F2942"/>
                </a:solidFill>
                <a:latin typeface="Calibri" pitchFamily="34" charset="0"/>
                <a:ea typeface="Calibri" pitchFamily="34" charset="-122"/>
                <a:cs typeface="Calibri" pitchFamily="34" charset="-120"/>
              </a:rPr>
              <a:t>SYSTEM INTERFACE: GUARD DESK &amp; VISITOR REGISTRY</a:t>
            </a:r>
            <a:endParaRPr lang="en-US" sz="950" dirty="0"/>
          </a:p>
        </p:txBody>
      </p:sp>
      <p:pic>
        <p:nvPicPr>
          <p:cNvPr id="16" name="Image 0" descr="D:\Projects\GATESYNC\screenshots\fresh_3_guard_desk.png">    </p:cNvPr>
          <p:cNvPicPr>
            <a:picLocks noChangeAspect="1"/>
          </p:cNvPicPr>
          <p:nvPr/>
        </p:nvPicPr>
        <p:blipFill>
          <a:blip r:embed="rId1"/>
          <a:stretch>
            <a:fillRect/>
          </a:stretch>
        </p:blipFill>
        <p:spPr>
          <a:xfrm>
            <a:off x="4617720" y="1600200"/>
            <a:ext cx="3794760" cy="28346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1E40AF"/>
          </a:solidFill>
          <a:ln w="12700">
            <a:solidFill>
              <a:srgbClr val="1E40AF"/>
            </a:solidFill>
            <a:prstDash val="solid"/>
          </a:ln>
        </p:spPr>
      </p:sp>
      <p:sp>
        <p:nvSpPr>
          <p:cNvPr id="3" name="Text 1"/>
          <p:cNvSpPr/>
          <p:nvPr/>
        </p:nvSpPr>
        <p:spPr>
          <a:xfrm>
            <a:off x="548640" y="219456"/>
            <a:ext cx="5486400" cy="201168"/>
          </a:xfrm>
          <a:prstGeom prst="rect">
            <a:avLst/>
          </a:prstGeom>
          <a:noFill/>
          <a:ln/>
        </p:spPr>
        <p:txBody>
          <a:bodyPr wrap="square" rtlCol="0" anchor="ctr"/>
          <a:lstStyle/>
          <a:p>
            <a:pPr indent="0" marL="0">
              <a:buNone/>
            </a:pPr>
            <a:r>
              <a:rPr lang="en-US" sz="850" b="1" dirty="0">
                <a:solidFill>
                  <a:srgbClr val="1E40AF"/>
                </a:solidFill>
                <a:latin typeface="Calibri" pitchFamily="34" charset="0"/>
                <a:ea typeface="Calibri" pitchFamily="34" charset="-122"/>
                <a:cs typeface="Calibri" pitchFamily="34" charset="-120"/>
              </a:rPr>
              <a:t>SECTION 05  |  MODULE DEEP-DIVE</a:t>
            </a:r>
            <a:endParaRPr lang="en-US" sz="850" dirty="0"/>
          </a:p>
        </p:txBody>
      </p:sp>
      <p:sp>
        <p:nvSpPr>
          <p:cNvPr id="4" name="Text 2"/>
          <p:cNvSpPr/>
          <p:nvPr/>
        </p:nvSpPr>
        <p:spPr>
          <a:xfrm>
            <a:off x="548640" y="420624"/>
            <a:ext cx="8046720" cy="347472"/>
          </a:xfrm>
          <a:prstGeom prst="rect">
            <a:avLst/>
          </a:prstGeom>
          <a:noFill/>
          <a:ln/>
        </p:spPr>
        <p:txBody>
          <a:bodyPr wrap="square" rtlCol="0" anchor="ctr"/>
          <a:lstStyle/>
          <a:p>
            <a:pPr indent="0" marL="0">
              <a:buNone/>
            </a:pPr>
            <a:r>
              <a:rPr lang="en-US" sz="1800" b="1" dirty="0">
                <a:solidFill>
                  <a:srgbClr val="0F2942"/>
                </a:solidFill>
                <a:latin typeface="Calibri" pitchFamily="34" charset="0"/>
                <a:ea typeface="Calibri" pitchFamily="34" charset="-122"/>
                <a:cs typeface="Calibri" pitchFamily="34" charset="-120"/>
              </a:rPr>
              <a:t>Resident Instant Push Alert &amp; 1-Tap Approval</a:t>
            </a:r>
            <a:endParaRPr lang="en-US" sz="1800" dirty="0"/>
          </a:p>
        </p:txBody>
      </p:sp>
      <p:sp>
        <p:nvSpPr>
          <p:cNvPr id="5" name="Text 3"/>
          <p:cNvSpPr/>
          <p:nvPr/>
        </p:nvSpPr>
        <p:spPr>
          <a:xfrm>
            <a:off x="548640" y="768096"/>
            <a:ext cx="8046720" cy="201168"/>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Zero Phone Calls Required — Secure Gate Decisions in Under 2 Seconds</a:t>
            </a:r>
            <a:endParaRPr lang="en-US" sz="950" dirty="0"/>
          </a:p>
        </p:txBody>
      </p:sp>
      <p:sp>
        <p:nvSpPr>
          <p:cNvPr id="6" name="Shape 4"/>
          <p:cNvSpPr/>
          <p:nvPr/>
        </p:nvSpPr>
        <p:spPr>
          <a:xfrm>
            <a:off x="548640" y="1005840"/>
            <a:ext cx="8046720" cy="9144"/>
          </a:xfrm>
          <a:prstGeom prst="rect">
            <a:avLst/>
          </a:prstGeom>
          <a:solidFill>
            <a:srgbClr val="E2E8F0"/>
          </a:solidFill>
          <a:ln w="12700">
            <a:solidFill>
              <a:srgbClr val="E2E8F0"/>
            </a:solidFill>
            <a:prstDash val="solid"/>
          </a:ln>
        </p:spPr>
      </p:sp>
      <p:sp>
        <p:nvSpPr>
          <p:cNvPr id="7" name="Shape 5"/>
          <p:cNvSpPr/>
          <p:nvPr/>
        </p:nvSpPr>
        <p:spPr>
          <a:xfrm>
            <a:off x="548640" y="4754880"/>
            <a:ext cx="8046720" cy="9144"/>
          </a:xfrm>
          <a:prstGeom prst="rect">
            <a:avLst/>
          </a:prstGeom>
          <a:solidFill>
            <a:srgbClr val="E2E8F0"/>
          </a:solidFill>
          <a:ln w="12700">
            <a:solidFill>
              <a:srgbClr val="E2E8F0"/>
            </a:solidFill>
            <a:prstDash val="solid"/>
          </a:ln>
        </p:spPr>
      </p:sp>
      <p:sp>
        <p:nvSpPr>
          <p:cNvPr id="8" name="Text 6"/>
          <p:cNvSpPr/>
          <p:nvPr/>
        </p:nvSpPr>
        <p:spPr>
          <a:xfrm>
            <a:off x="548640" y="4800600"/>
            <a:ext cx="5943600" cy="201168"/>
          </a:xfrm>
          <a:prstGeom prst="rect">
            <a:avLst/>
          </a:prstGeom>
          <a:noFill/>
          <a:ln/>
        </p:spPr>
        <p:txBody>
          <a:bodyPr wrap="square" rtlCol="0" anchor="ctr"/>
          <a:lstStyle/>
          <a:p>
            <a:pPr indent="0" marL="0">
              <a:buNone/>
            </a:pPr>
            <a:r>
              <a:rPr lang="en-US" sz="850" dirty="0">
                <a:solidFill>
                  <a:srgbClr val="64748B"/>
                </a:solidFill>
                <a:latin typeface="Calibri" pitchFamily="34" charset="0"/>
                <a:ea typeface="Calibri" pitchFamily="34" charset="-122"/>
                <a:cs typeface="Calibri" pitchFamily="34" charset="-120"/>
              </a:rPr>
              <a:t>GateSync — Smart Society Security System  |  Arpitsinh Thakor (23SE02IE040)</a:t>
            </a:r>
            <a:endParaRPr lang="en-US" sz="850" dirty="0"/>
          </a:p>
        </p:txBody>
      </p:sp>
      <p:sp>
        <p:nvSpPr>
          <p:cNvPr id="9" name="Text 7"/>
          <p:cNvSpPr/>
          <p:nvPr/>
        </p:nvSpPr>
        <p:spPr>
          <a:xfrm>
            <a:off x="6583680" y="4800600"/>
            <a:ext cx="2011680" cy="201168"/>
          </a:xfrm>
          <a:prstGeom prst="rect">
            <a:avLst/>
          </a:prstGeom>
          <a:noFill/>
          <a:ln/>
        </p:spPr>
        <p:txBody>
          <a:bodyPr wrap="square" rtlCol="0" anchor="ctr"/>
          <a:lstStyle/>
          <a:p>
            <a:pPr algn="r" indent="0" marL="0">
              <a:buNone/>
            </a:pPr>
            <a:r>
              <a:rPr lang="en-US" sz="850" b="1" dirty="0">
                <a:solidFill>
                  <a:srgbClr val="1E40AF"/>
                </a:solidFill>
                <a:latin typeface="Calibri" pitchFamily="34" charset="0"/>
                <a:ea typeface="Calibri" pitchFamily="34" charset="-122"/>
                <a:cs typeface="Calibri" pitchFamily="34" charset="-120"/>
              </a:rPr>
              <a:t>SCHOOL OF ENGINEERING  •  SLIDE 6 / 12</a:t>
            </a:r>
            <a:endParaRPr lang="en-US" sz="850" dirty="0"/>
          </a:p>
        </p:txBody>
      </p:sp>
      <p:sp>
        <p:nvSpPr>
          <p:cNvPr id="10" name="Shape 8"/>
          <p:cNvSpPr/>
          <p:nvPr/>
        </p:nvSpPr>
        <p:spPr>
          <a:xfrm>
            <a:off x="548640" y="1143000"/>
            <a:ext cx="3657600" cy="3474720"/>
          </a:xfrm>
          <a:prstGeom prst="rect">
            <a:avLst/>
          </a:prstGeom>
          <a:solidFill>
            <a:srgbClr val="FFFFFF"/>
          </a:solidFill>
          <a:ln w="12700">
            <a:solidFill>
              <a:srgbClr val="E2E8F0"/>
            </a:solidFill>
            <a:prstDash val="solid"/>
          </a:ln>
        </p:spPr>
      </p:sp>
      <p:sp>
        <p:nvSpPr>
          <p:cNvPr id="11" name="Shape 9"/>
          <p:cNvSpPr/>
          <p:nvPr/>
        </p:nvSpPr>
        <p:spPr>
          <a:xfrm>
            <a:off x="548640" y="1143000"/>
            <a:ext cx="73152" cy="3474720"/>
          </a:xfrm>
          <a:prstGeom prst="rect">
            <a:avLst/>
          </a:prstGeom>
          <a:solidFill>
            <a:srgbClr val="1E40AF"/>
          </a:solidFill>
          <a:ln w="12700">
            <a:solidFill>
              <a:srgbClr val="1E40AF"/>
            </a:solidFill>
            <a:prstDash val="solid"/>
          </a:ln>
        </p:spPr>
      </p:sp>
      <p:sp>
        <p:nvSpPr>
          <p:cNvPr id="12" name="Text 10"/>
          <p:cNvSpPr/>
          <p:nvPr/>
        </p:nvSpPr>
        <p:spPr>
          <a:xfrm>
            <a:off x="777240" y="1280160"/>
            <a:ext cx="3291840" cy="256032"/>
          </a:xfrm>
          <a:prstGeom prst="rect">
            <a:avLst/>
          </a:prstGeom>
          <a:noFill/>
          <a:ln/>
        </p:spPr>
        <p:txBody>
          <a:bodyPr wrap="square" rtlCol="0" anchor="ctr"/>
          <a:lstStyle/>
          <a:p>
            <a:pPr indent="0" marL="0">
              <a:buNone/>
            </a:pPr>
            <a:r>
              <a:rPr lang="en-US" sz="1100" b="1" dirty="0">
                <a:solidFill>
                  <a:srgbClr val="1E40AF"/>
                </a:solidFill>
                <a:latin typeface="Calibri" pitchFamily="34" charset="0"/>
                <a:ea typeface="Calibri" pitchFamily="34" charset="-122"/>
                <a:cs typeface="Calibri" pitchFamily="34" charset="-120"/>
              </a:rPr>
              <a:t>REAL-TIME APPROVAL ARCHITECTURE</a:t>
            </a:r>
            <a:endParaRPr lang="en-US" sz="1100" dirty="0"/>
          </a:p>
        </p:txBody>
      </p:sp>
      <p:sp>
        <p:nvSpPr>
          <p:cNvPr id="13" name="Text 11"/>
          <p:cNvSpPr/>
          <p:nvPr/>
        </p:nvSpPr>
        <p:spPr>
          <a:xfrm>
            <a:off x="777240" y="1600200"/>
            <a:ext cx="3291840" cy="2880360"/>
          </a:xfrm>
          <a:prstGeom prst="rect">
            <a:avLst/>
          </a:prstGeom>
          <a:noFill/>
          <a:ln/>
        </p:spPr>
        <p:txBody>
          <a:bodyPr wrap="square" rtlCol="0" anchor="ctr"/>
          <a:lstStyle/>
          <a:p>
            <a:pPr indent="0" marL="0">
              <a:buNone/>
            </a:pPr>
            <a:r>
              <a:rPr lang="en-US" sz="850" b="1" dirty="0">
                <a:solidFill>
                  <a:srgbClr val="0F172A"/>
                </a:solidFill>
                <a:latin typeface="Calibri" pitchFamily="34" charset="0"/>
                <a:ea typeface="Calibri" pitchFamily="34" charset="-122"/>
                <a:cs typeface="Calibri" pitchFamily="34" charset="-120"/>
              </a:rPr>
              <a:t>1.  Guard Dispatches Visitor Entry
</a:t>
            </a:r>
            <a:pPr indent="0" marL="0">
              <a:buNone/>
            </a:pPr>
            <a:r>
              <a:rPr lang="en-US" sz="850" dirty="0">
                <a:solidFill>
                  <a:srgbClr val="334155"/>
                </a:solidFill>
                <a:latin typeface="Calibri" pitchFamily="34" charset="0"/>
                <a:ea typeface="Calibri" pitchFamily="34" charset="-122"/>
                <a:cs typeface="Calibri" pitchFamily="34" charset="-120"/>
              </a:rPr>
              <a:t>Guard enters visitor details at cabin desk and hits Submit. The backend generates a temporary approval session.
</a:t>
            </a:r>
            <a:pPr indent="0" marL="0">
              <a:buNone/>
            </a:pPr>
            <a:r>
              <a:rPr lang="en-US" sz="850" b="1" dirty="0">
                <a:solidFill>
                  <a:srgbClr val="0F172A"/>
                </a:solidFill>
                <a:latin typeface="Calibri" pitchFamily="34" charset="0"/>
                <a:ea typeface="Calibri" pitchFamily="34" charset="-122"/>
                <a:cs typeface="Calibri" pitchFamily="34" charset="-120"/>
              </a:rPr>
              <a:t>2.  WebSocket Event Routing (&lt; 150ms)
</a:t>
            </a:r>
            <a:pPr indent="0" marL="0">
              <a:buNone/>
            </a:pPr>
            <a:r>
              <a:rPr lang="en-US" sz="850" dirty="0">
                <a:solidFill>
                  <a:srgbClr val="334155"/>
                </a:solidFill>
                <a:latin typeface="Calibri" pitchFamily="34" charset="0"/>
                <a:ea typeface="Calibri" pitchFamily="34" charset="-122"/>
                <a:cs typeface="Calibri" pitchFamily="34" charset="-120"/>
              </a:rPr>
              <a:t>Spring Boot STOMP broker directs an arrival payload specifically to the subscribed flat channel.
</a:t>
            </a:r>
            <a:pPr indent="0" marL="0">
              <a:buNone/>
            </a:pPr>
            <a:r>
              <a:rPr lang="en-US" sz="850" b="1" dirty="0">
                <a:solidFill>
                  <a:srgbClr val="0F172A"/>
                </a:solidFill>
                <a:latin typeface="Calibri" pitchFamily="34" charset="0"/>
                <a:ea typeface="Calibri" pitchFamily="34" charset="-122"/>
                <a:cs typeface="Calibri" pitchFamily="34" charset="-120"/>
              </a:rPr>
              <a:t>3.  Modal Pop-Up Alert on Smartphone
</a:t>
            </a:r>
            <a:pPr indent="0" marL="0">
              <a:buNone/>
            </a:pPr>
            <a:r>
              <a:rPr lang="en-US" sz="850" dirty="0">
                <a:solidFill>
                  <a:srgbClr val="334155"/>
                </a:solidFill>
                <a:latin typeface="Calibri" pitchFamily="34" charset="0"/>
                <a:ea typeface="Calibri" pitchFamily="34" charset="-122"/>
                <a:cs typeface="Calibri" pitchFamily="34" charset="-120"/>
              </a:rPr>
              <a:t>Resident phone screen lights up with full-screen popup displaying visitor name, photo, purpose, and company.
</a:t>
            </a:r>
            <a:pPr indent="0" marL="0">
              <a:buNone/>
            </a:pPr>
            <a:r>
              <a:rPr lang="en-US" sz="850" b="1" dirty="0">
                <a:solidFill>
                  <a:srgbClr val="0F172A"/>
                </a:solidFill>
                <a:latin typeface="Calibri" pitchFamily="34" charset="0"/>
                <a:ea typeface="Calibri" pitchFamily="34" charset="-122"/>
                <a:cs typeface="Calibri" pitchFamily="34" charset="-120"/>
              </a:rPr>
              <a:t>4.  One-Tap Decision Return
</a:t>
            </a:r>
            <a:pPr indent="0" marL="0">
              <a:buNone/>
            </a:pPr>
            <a:r>
              <a:rPr lang="en-US" sz="850" dirty="0">
                <a:solidFill>
                  <a:srgbClr val="334155"/>
                </a:solidFill>
                <a:latin typeface="Calibri" pitchFamily="34" charset="0"/>
                <a:ea typeface="Calibri" pitchFamily="34" charset="-122"/>
                <a:cs typeface="Calibri" pitchFamily="34" charset="-120"/>
              </a:rPr>
              <a:t>Resident taps "Approve Entry" or "Deny Entry". The decision is relayed instantly to the guard screen with an audible chime.</a:t>
            </a:r>
            <a:endParaRPr lang="en-US" sz="850" dirty="0"/>
          </a:p>
        </p:txBody>
      </p:sp>
      <p:sp>
        <p:nvSpPr>
          <p:cNvPr id="14" name="Shape 12"/>
          <p:cNvSpPr/>
          <p:nvPr/>
        </p:nvSpPr>
        <p:spPr>
          <a:xfrm>
            <a:off x="4434840" y="1143000"/>
            <a:ext cx="4160520" cy="3474720"/>
          </a:xfrm>
          <a:prstGeom prst="rect">
            <a:avLst/>
          </a:prstGeom>
          <a:solidFill>
            <a:srgbClr val="FFFFFF"/>
          </a:solidFill>
          <a:ln w="12700">
            <a:solidFill>
              <a:srgbClr val="E2E8F0"/>
            </a:solidFill>
            <a:prstDash val="solid"/>
          </a:ln>
        </p:spPr>
      </p:sp>
      <p:sp>
        <p:nvSpPr>
          <p:cNvPr id="15" name="Text 13"/>
          <p:cNvSpPr/>
          <p:nvPr/>
        </p:nvSpPr>
        <p:spPr>
          <a:xfrm>
            <a:off x="4617720" y="1280160"/>
            <a:ext cx="3794760" cy="228600"/>
          </a:xfrm>
          <a:prstGeom prst="rect">
            <a:avLst/>
          </a:prstGeom>
          <a:noFill/>
          <a:ln/>
        </p:spPr>
        <p:txBody>
          <a:bodyPr wrap="square" rtlCol="0" anchor="ctr"/>
          <a:lstStyle/>
          <a:p>
            <a:pPr indent="0" marL="0">
              <a:buNone/>
            </a:pPr>
            <a:r>
              <a:rPr lang="en-US" sz="950" b="1" dirty="0">
                <a:solidFill>
                  <a:srgbClr val="0F2942"/>
                </a:solidFill>
                <a:latin typeface="Calibri" pitchFamily="34" charset="0"/>
                <a:ea typeface="Calibri" pitchFamily="34" charset="-122"/>
                <a:cs typeface="Calibri" pitchFamily="34" charset="-120"/>
              </a:rPr>
              <a:t>SYSTEM INTERFACE: RESIDENT REAL-TIME POPUP ALERT</a:t>
            </a:r>
            <a:endParaRPr lang="en-US" sz="950" dirty="0"/>
          </a:p>
        </p:txBody>
      </p:sp>
      <p:pic>
        <p:nvPicPr>
          <p:cNvPr id="16" name="Image 0" descr="D:\Projects\GATESYNC\screenshots\fresh_fig_8_3_arrival_alert.png">    </p:cNvPr>
          <p:cNvPicPr>
            <a:picLocks noChangeAspect="1"/>
          </p:cNvPicPr>
          <p:nvPr/>
        </p:nvPicPr>
        <p:blipFill>
          <a:blip r:embed="rId1"/>
          <a:stretch>
            <a:fillRect/>
          </a:stretch>
        </p:blipFill>
        <p:spPr>
          <a:xfrm>
            <a:off x="4617720" y="1600200"/>
            <a:ext cx="3794760" cy="28346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1E40AF"/>
          </a:solidFill>
          <a:ln w="12700">
            <a:solidFill>
              <a:srgbClr val="1E40AF"/>
            </a:solidFill>
            <a:prstDash val="solid"/>
          </a:ln>
        </p:spPr>
      </p:sp>
      <p:sp>
        <p:nvSpPr>
          <p:cNvPr id="3" name="Text 1"/>
          <p:cNvSpPr/>
          <p:nvPr/>
        </p:nvSpPr>
        <p:spPr>
          <a:xfrm>
            <a:off x="548640" y="219456"/>
            <a:ext cx="5486400" cy="201168"/>
          </a:xfrm>
          <a:prstGeom prst="rect">
            <a:avLst/>
          </a:prstGeom>
          <a:noFill/>
          <a:ln/>
        </p:spPr>
        <p:txBody>
          <a:bodyPr wrap="square" rtlCol="0" anchor="ctr"/>
          <a:lstStyle/>
          <a:p>
            <a:pPr indent="0" marL="0">
              <a:buNone/>
            </a:pPr>
            <a:r>
              <a:rPr lang="en-US" sz="850" b="1" dirty="0">
                <a:solidFill>
                  <a:srgbClr val="1E40AF"/>
                </a:solidFill>
                <a:latin typeface="Calibri" pitchFamily="34" charset="0"/>
                <a:ea typeface="Calibri" pitchFamily="34" charset="-122"/>
                <a:cs typeface="Calibri" pitchFamily="34" charset="-120"/>
              </a:rPr>
              <a:t>SECTION 06  |  MODULE DEEP-DIVE</a:t>
            </a:r>
            <a:endParaRPr lang="en-US" sz="850" dirty="0"/>
          </a:p>
        </p:txBody>
      </p:sp>
      <p:sp>
        <p:nvSpPr>
          <p:cNvPr id="4" name="Text 2"/>
          <p:cNvSpPr/>
          <p:nvPr/>
        </p:nvSpPr>
        <p:spPr>
          <a:xfrm>
            <a:off x="548640" y="420624"/>
            <a:ext cx="8046720" cy="347472"/>
          </a:xfrm>
          <a:prstGeom prst="rect">
            <a:avLst/>
          </a:prstGeom>
          <a:noFill/>
          <a:ln/>
        </p:spPr>
        <p:txBody>
          <a:bodyPr wrap="square" rtlCol="0" anchor="ctr"/>
          <a:lstStyle/>
          <a:p>
            <a:pPr indent="0" marL="0">
              <a:buNone/>
            </a:pPr>
            <a:r>
              <a:rPr lang="en-US" sz="1800" b="1" dirty="0">
                <a:solidFill>
                  <a:srgbClr val="0F2942"/>
                </a:solidFill>
                <a:latin typeface="Calibri" pitchFamily="34" charset="0"/>
                <a:ea typeface="Calibri" pitchFamily="34" charset="-122"/>
                <a:cs typeface="Calibri" pitchFamily="34" charset="-120"/>
              </a:rPr>
              <a:t>Pre-Approved Guest Passes &amp; Digital QR Scanner</a:t>
            </a:r>
            <a:endParaRPr lang="en-US" sz="1800" dirty="0"/>
          </a:p>
        </p:txBody>
      </p:sp>
      <p:sp>
        <p:nvSpPr>
          <p:cNvPr id="5" name="Text 3"/>
          <p:cNvSpPr/>
          <p:nvPr/>
        </p:nvSpPr>
        <p:spPr>
          <a:xfrm>
            <a:off x="548640" y="768096"/>
            <a:ext cx="8046720" cy="201168"/>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Frictionless Entry for Family, Party Guests, and Service Personnel</a:t>
            </a:r>
            <a:endParaRPr lang="en-US" sz="950" dirty="0"/>
          </a:p>
        </p:txBody>
      </p:sp>
      <p:sp>
        <p:nvSpPr>
          <p:cNvPr id="6" name="Shape 4"/>
          <p:cNvSpPr/>
          <p:nvPr/>
        </p:nvSpPr>
        <p:spPr>
          <a:xfrm>
            <a:off x="548640" y="1005840"/>
            <a:ext cx="8046720" cy="9144"/>
          </a:xfrm>
          <a:prstGeom prst="rect">
            <a:avLst/>
          </a:prstGeom>
          <a:solidFill>
            <a:srgbClr val="E2E8F0"/>
          </a:solidFill>
          <a:ln w="12700">
            <a:solidFill>
              <a:srgbClr val="E2E8F0"/>
            </a:solidFill>
            <a:prstDash val="solid"/>
          </a:ln>
        </p:spPr>
      </p:sp>
      <p:sp>
        <p:nvSpPr>
          <p:cNvPr id="7" name="Shape 5"/>
          <p:cNvSpPr/>
          <p:nvPr/>
        </p:nvSpPr>
        <p:spPr>
          <a:xfrm>
            <a:off x="548640" y="4754880"/>
            <a:ext cx="8046720" cy="9144"/>
          </a:xfrm>
          <a:prstGeom prst="rect">
            <a:avLst/>
          </a:prstGeom>
          <a:solidFill>
            <a:srgbClr val="E2E8F0"/>
          </a:solidFill>
          <a:ln w="12700">
            <a:solidFill>
              <a:srgbClr val="E2E8F0"/>
            </a:solidFill>
            <a:prstDash val="solid"/>
          </a:ln>
        </p:spPr>
      </p:sp>
      <p:sp>
        <p:nvSpPr>
          <p:cNvPr id="8" name="Text 6"/>
          <p:cNvSpPr/>
          <p:nvPr/>
        </p:nvSpPr>
        <p:spPr>
          <a:xfrm>
            <a:off x="548640" y="4800600"/>
            <a:ext cx="5943600" cy="201168"/>
          </a:xfrm>
          <a:prstGeom prst="rect">
            <a:avLst/>
          </a:prstGeom>
          <a:noFill/>
          <a:ln/>
        </p:spPr>
        <p:txBody>
          <a:bodyPr wrap="square" rtlCol="0" anchor="ctr"/>
          <a:lstStyle/>
          <a:p>
            <a:pPr indent="0" marL="0">
              <a:buNone/>
            </a:pPr>
            <a:r>
              <a:rPr lang="en-US" sz="850" dirty="0">
                <a:solidFill>
                  <a:srgbClr val="64748B"/>
                </a:solidFill>
                <a:latin typeface="Calibri" pitchFamily="34" charset="0"/>
                <a:ea typeface="Calibri" pitchFamily="34" charset="-122"/>
                <a:cs typeface="Calibri" pitchFamily="34" charset="-120"/>
              </a:rPr>
              <a:t>GateSync — Smart Society Security System  |  Arpitsinh Thakor (23SE02IE040)</a:t>
            </a:r>
            <a:endParaRPr lang="en-US" sz="850" dirty="0"/>
          </a:p>
        </p:txBody>
      </p:sp>
      <p:sp>
        <p:nvSpPr>
          <p:cNvPr id="9" name="Text 7"/>
          <p:cNvSpPr/>
          <p:nvPr/>
        </p:nvSpPr>
        <p:spPr>
          <a:xfrm>
            <a:off x="6583680" y="4800600"/>
            <a:ext cx="2011680" cy="201168"/>
          </a:xfrm>
          <a:prstGeom prst="rect">
            <a:avLst/>
          </a:prstGeom>
          <a:noFill/>
          <a:ln/>
        </p:spPr>
        <p:txBody>
          <a:bodyPr wrap="square" rtlCol="0" anchor="ctr"/>
          <a:lstStyle/>
          <a:p>
            <a:pPr algn="r" indent="0" marL="0">
              <a:buNone/>
            </a:pPr>
            <a:r>
              <a:rPr lang="en-US" sz="850" b="1" dirty="0">
                <a:solidFill>
                  <a:srgbClr val="1E40AF"/>
                </a:solidFill>
                <a:latin typeface="Calibri" pitchFamily="34" charset="0"/>
                <a:ea typeface="Calibri" pitchFamily="34" charset="-122"/>
                <a:cs typeface="Calibri" pitchFamily="34" charset="-120"/>
              </a:rPr>
              <a:t>SCHOOL OF ENGINEERING  •  SLIDE 7 / 12</a:t>
            </a:r>
            <a:endParaRPr lang="en-US" sz="850" dirty="0"/>
          </a:p>
        </p:txBody>
      </p:sp>
      <p:sp>
        <p:nvSpPr>
          <p:cNvPr id="10" name="Shape 8"/>
          <p:cNvSpPr/>
          <p:nvPr/>
        </p:nvSpPr>
        <p:spPr>
          <a:xfrm>
            <a:off x="548640" y="1143000"/>
            <a:ext cx="3657600" cy="3474720"/>
          </a:xfrm>
          <a:prstGeom prst="rect">
            <a:avLst/>
          </a:prstGeom>
          <a:solidFill>
            <a:srgbClr val="FFFFFF"/>
          </a:solidFill>
          <a:ln w="12700">
            <a:solidFill>
              <a:srgbClr val="E2E8F0"/>
            </a:solidFill>
            <a:prstDash val="solid"/>
          </a:ln>
        </p:spPr>
      </p:sp>
      <p:sp>
        <p:nvSpPr>
          <p:cNvPr id="11" name="Shape 9"/>
          <p:cNvSpPr/>
          <p:nvPr/>
        </p:nvSpPr>
        <p:spPr>
          <a:xfrm>
            <a:off x="548640" y="1143000"/>
            <a:ext cx="73152" cy="3474720"/>
          </a:xfrm>
          <a:prstGeom prst="rect">
            <a:avLst/>
          </a:prstGeom>
          <a:solidFill>
            <a:srgbClr val="16A34A"/>
          </a:solidFill>
          <a:ln w="12700">
            <a:solidFill>
              <a:srgbClr val="16A34A"/>
            </a:solidFill>
            <a:prstDash val="solid"/>
          </a:ln>
        </p:spPr>
      </p:sp>
      <p:sp>
        <p:nvSpPr>
          <p:cNvPr id="12" name="Text 10"/>
          <p:cNvSpPr/>
          <p:nvPr/>
        </p:nvSpPr>
        <p:spPr>
          <a:xfrm>
            <a:off x="777240" y="1280160"/>
            <a:ext cx="3291840" cy="256032"/>
          </a:xfrm>
          <a:prstGeom prst="rect">
            <a:avLst/>
          </a:prstGeom>
          <a:noFill/>
          <a:ln/>
        </p:spPr>
        <p:txBody>
          <a:bodyPr wrap="square" rtlCol="0" anchor="ctr"/>
          <a:lstStyle/>
          <a:p>
            <a:pPr indent="0" marL="0">
              <a:buNone/>
            </a:pPr>
            <a:r>
              <a:rPr lang="en-US" sz="1100" b="1" dirty="0">
                <a:solidFill>
                  <a:srgbClr val="16A34A"/>
                </a:solidFill>
                <a:latin typeface="Calibri" pitchFamily="34" charset="0"/>
                <a:ea typeface="Calibri" pitchFamily="34" charset="-122"/>
                <a:cs typeface="Calibri" pitchFamily="34" charset="-120"/>
              </a:rPr>
              <a:t>FOUR PILLARS OF GUEST PASS SECURITY</a:t>
            </a:r>
            <a:endParaRPr lang="en-US" sz="1100" dirty="0"/>
          </a:p>
        </p:txBody>
      </p:sp>
      <p:sp>
        <p:nvSpPr>
          <p:cNvPr id="13" name="Text 11"/>
          <p:cNvSpPr/>
          <p:nvPr/>
        </p:nvSpPr>
        <p:spPr>
          <a:xfrm>
            <a:off x="777240" y="1600200"/>
            <a:ext cx="3291840" cy="2880360"/>
          </a:xfrm>
          <a:prstGeom prst="rect">
            <a:avLst/>
          </a:prstGeom>
          <a:noFill/>
          <a:ln/>
        </p:spPr>
        <p:txBody>
          <a:bodyPr wrap="square" rtlCol="0" anchor="ctr"/>
          <a:lstStyle/>
          <a:p>
            <a:pPr indent="0" marL="0">
              <a:buNone/>
            </a:pPr>
            <a:r>
              <a:rPr lang="en-US" sz="850" b="1" dirty="0">
                <a:solidFill>
                  <a:srgbClr val="0F172A"/>
                </a:solidFill>
                <a:latin typeface="Calibri" pitchFamily="34" charset="0"/>
                <a:ea typeface="Calibri" pitchFamily="34" charset="-122"/>
                <a:cs typeface="Calibri" pitchFamily="34" charset="-120"/>
              </a:rPr>
              <a:t>•  Pre-Approval by Resident
</a:t>
            </a:r>
            <a:pPr indent="0" marL="0">
              <a:buNone/>
            </a:pPr>
            <a:r>
              <a:rPr lang="en-US" sz="850" dirty="0">
                <a:solidFill>
                  <a:srgbClr val="334155"/>
                </a:solidFill>
                <a:latin typeface="Calibri" pitchFamily="34" charset="0"/>
                <a:ea typeface="Calibri" pitchFamily="34" charset="-122"/>
                <a:cs typeface="Calibri" pitchFamily="34" charset="-120"/>
              </a:rPr>
              <a:t>Residents generate digital passes in advance for expected guests, providing guest name, expected arrival date, and valid hours.
</a:t>
            </a:r>
            <a:pPr indent="0" marL="0">
              <a:buNone/>
            </a:pPr>
            <a:r>
              <a:rPr lang="en-US" sz="850" b="1" dirty="0">
                <a:solidFill>
                  <a:srgbClr val="0F172A"/>
                </a:solidFill>
                <a:latin typeface="Calibri" pitchFamily="34" charset="0"/>
                <a:ea typeface="Calibri" pitchFamily="34" charset="-122"/>
                <a:cs typeface="Calibri" pitchFamily="34" charset="-120"/>
              </a:rPr>
              <a:t>•  Secure QR Code &amp; 6-Digit OTP
</a:t>
            </a:r>
            <a:pPr indent="0" marL="0">
              <a:buNone/>
            </a:pPr>
            <a:r>
              <a:rPr lang="en-US" sz="850" dirty="0">
                <a:solidFill>
                  <a:srgbClr val="334155"/>
                </a:solidFill>
                <a:latin typeface="Calibri" pitchFamily="34" charset="0"/>
                <a:ea typeface="Calibri" pitchFamily="34" charset="-122"/>
                <a:cs typeface="Calibri" pitchFamily="34" charset="-120"/>
              </a:rPr>
              <a:t>System generates an encrypted QR code and fallback 6-digit numeric OTP sent directly to the guest via WhatsApp or SMS.
</a:t>
            </a:r>
            <a:pPr indent="0" marL="0">
              <a:buNone/>
            </a:pPr>
            <a:r>
              <a:rPr lang="en-US" sz="850" b="1" dirty="0">
                <a:solidFill>
                  <a:srgbClr val="0F172A"/>
                </a:solidFill>
                <a:latin typeface="Calibri" pitchFamily="34" charset="0"/>
                <a:ea typeface="Calibri" pitchFamily="34" charset="-122"/>
                <a:cs typeface="Calibri" pitchFamily="34" charset="-120"/>
              </a:rPr>
              <a:t>•  Instant Camera QR Verification
</a:t>
            </a:r>
            <a:pPr indent="0" marL="0">
              <a:buNone/>
            </a:pPr>
            <a:r>
              <a:rPr lang="en-US" sz="850" dirty="0">
                <a:solidFill>
                  <a:srgbClr val="334155"/>
                </a:solidFill>
                <a:latin typeface="Calibri" pitchFamily="34" charset="0"/>
                <a:ea typeface="Calibri" pitchFamily="34" charset="-122"/>
                <a:cs typeface="Calibri" pitchFamily="34" charset="-120"/>
              </a:rPr>
              <a:t>The guard scans the guest QR code using the cabin webcam. GateSync validates pass status and logs entry in under 2 seconds.
</a:t>
            </a:r>
            <a:pPr indent="0" marL="0">
              <a:buNone/>
            </a:pPr>
            <a:r>
              <a:rPr lang="en-US" sz="850" b="1" dirty="0">
                <a:solidFill>
                  <a:srgbClr val="0F172A"/>
                </a:solidFill>
                <a:latin typeface="Calibri" pitchFamily="34" charset="0"/>
                <a:ea typeface="Calibri" pitchFamily="34" charset="-122"/>
                <a:cs typeface="Calibri" pitchFamily="34" charset="-120"/>
              </a:rPr>
              <a:t>•  Automatic Expiration &amp; Single Use
</a:t>
            </a:r>
            <a:pPr indent="0" marL="0">
              <a:buNone/>
            </a:pPr>
            <a:r>
              <a:rPr lang="en-US" sz="850" dirty="0">
                <a:solidFill>
                  <a:srgbClr val="334155"/>
                </a:solidFill>
                <a:latin typeface="Calibri" pitchFamily="34" charset="0"/>
                <a:ea typeface="Calibri" pitchFamily="34" charset="-122"/>
                <a:cs typeface="Calibri" pitchFamily="34" charset="-120"/>
              </a:rPr>
              <a:t>Passes automatically deactivate upon exit or when the time window lapses, preventing unauthorized reuse.</a:t>
            </a:r>
            <a:endParaRPr lang="en-US" sz="850" dirty="0"/>
          </a:p>
        </p:txBody>
      </p:sp>
      <p:sp>
        <p:nvSpPr>
          <p:cNvPr id="14" name="Shape 12"/>
          <p:cNvSpPr/>
          <p:nvPr/>
        </p:nvSpPr>
        <p:spPr>
          <a:xfrm>
            <a:off x="4434840" y="1143000"/>
            <a:ext cx="4160520" cy="3474720"/>
          </a:xfrm>
          <a:prstGeom prst="rect">
            <a:avLst/>
          </a:prstGeom>
          <a:solidFill>
            <a:srgbClr val="FFFFFF"/>
          </a:solidFill>
          <a:ln w="12700">
            <a:solidFill>
              <a:srgbClr val="E2E8F0"/>
            </a:solidFill>
            <a:prstDash val="solid"/>
          </a:ln>
        </p:spPr>
      </p:sp>
      <p:sp>
        <p:nvSpPr>
          <p:cNvPr id="15" name="Text 13"/>
          <p:cNvSpPr/>
          <p:nvPr/>
        </p:nvSpPr>
        <p:spPr>
          <a:xfrm>
            <a:off x="4617720" y="1280160"/>
            <a:ext cx="3794760" cy="228600"/>
          </a:xfrm>
          <a:prstGeom prst="rect">
            <a:avLst/>
          </a:prstGeom>
          <a:noFill/>
          <a:ln/>
        </p:spPr>
        <p:txBody>
          <a:bodyPr wrap="square" rtlCol="0" anchor="ctr"/>
          <a:lstStyle/>
          <a:p>
            <a:pPr indent="0" marL="0">
              <a:buNone/>
            </a:pPr>
            <a:r>
              <a:rPr lang="en-US" sz="950" b="1" dirty="0">
                <a:solidFill>
                  <a:srgbClr val="0F2942"/>
                </a:solidFill>
                <a:latin typeface="Calibri" pitchFamily="34" charset="0"/>
                <a:ea typeface="Calibri" pitchFamily="34" charset="-122"/>
                <a:cs typeface="Calibri" pitchFamily="34" charset="-120"/>
              </a:rPr>
              <a:t>SYSTEM INTERFACE: QR CODE &amp; PASS SCANNER MODAL</a:t>
            </a:r>
            <a:endParaRPr lang="en-US" sz="950" dirty="0"/>
          </a:p>
        </p:txBody>
      </p:sp>
      <p:pic>
        <p:nvPicPr>
          <p:cNvPr id="16" name="Image 0" descr="D:\Projects\GATESYNC\screenshots\fresh_pass_scanner_modal.png">    </p:cNvPr>
          <p:cNvPicPr>
            <a:picLocks noChangeAspect="1"/>
          </p:cNvPicPr>
          <p:nvPr/>
        </p:nvPicPr>
        <p:blipFill>
          <a:blip r:embed="rId1"/>
          <a:stretch>
            <a:fillRect/>
          </a:stretch>
        </p:blipFill>
        <p:spPr>
          <a:xfrm>
            <a:off x="4617720" y="1600200"/>
            <a:ext cx="3794760" cy="28346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1E40AF"/>
          </a:solidFill>
          <a:ln w="12700">
            <a:solidFill>
              <a:srgbClr val="1E40AF"/>
            </a:solidFill>
            <a:prstDash val="solid"/>
          </a:ln>
        </p:spPr>
      </p:sp>
      <p:sp>
        <p:nvSpPr>
          <p:cNvPr id="3" name="Text 1"/>
          <p:cNvSpPr/>
          <p:nvPr/>
        </p:nvSpPr>
        <p:spPr>
          <a:xfrm>
            <a:off x="548640" y="219456"/>
            <a:ext cx="5486400" cy="201168"/>
          </a:xfrm>
          <a:prstGeom prst="rect">
            <a:avLst/>
          </a:prstGeom>
          <a:noFill/>
          <a:ln/>
        </p:spPr>
        <p:txBody>
          <a:bodyPr wrap="square" rtlCol="0" anchor="ctr"/>
          <a:lstStyle/>
          <a:p>
            <a:pPr indent="0" marL="0">
              <a:buNone/>
            </a:pPr>
            <a:r>
              <a:rPr lang="en-US" sz="850" b="1" dirty="0">
                <a:solidFill>
                  <a:srgbClr val="1E40AF"/>
                </a:solidFill>
                <a:latin typeface="Calibri" pitchFamily="34" charset="0"/>
                <a:ea typeface="Calibri" pitchFamily="34" charset="-122"/>
                <a:cs typeface="Calibri" pitchFamily="34" charset="-120"/>
              </a:rPr>
              <a:t>SECTION 07  |  MODULE DEEP-DIVE</a:t>
            </a:r>
            <a:endParaRPr lang="en-US" sz="850" dirty="0"/>
          </a:p>
        </p:txBody>
      </p:sp>
      <p:sp>
        <p:nvSpPr>
          <p:cNvPr id="4" name="Text 2"/>
          <p:cNvSpPr/>
          <p:nvPr/>
        </p:nvSpPr>
        <p:spPr>
          <a:xfrm>
            <a:off x="548640" y="420624"/>
            <a:ext cx="8046720" cy="347472"/>
          </a:xfrm>
          <a:prstGeom prst="rect">
            <a:avLst/>
          </a:prstGeom>
          <a:noFill/>
          <a:ln/>
        </p:spPr>
        <p:txBody>
          <a:bodyPr wrap="square" rtlCol="0" anchor="ctr"/>
          <a:lstStyle/>
          <a:p>
            <a:pPr indent="0" marL="0">
              <a:buNone/>
            </a:pPr>
            <a:r>
              <a:rPr lang="en-US" sz="1800" b="1" dirty="0">
                <a:solidFill>
                  <a:srgbClr val="0F2942"/>
                </a:solidFill>
                <a:latin typeface="Calibri" pitchFamily="34" charset="0"/>
                <a:ea typeface="Calibri" pitchFamily="34" charset="-122"/>
                <a:cs typeface="Calibri" pitchFamily="34" charset="-120"/>
              </a:rPr>
              <a:t>Management Command Center &amp; Society Operations</a:t>
            </a:r>
            <a:endParaRPr lang="en-US" sz="1800" dirty="0"/>
          </a:p>
        </p:txBody>
      </p:sp>
      <p:sp>
        <p:nvSpPr>
          <p:cNvPr id="5" name="Text 3"/>
          <p:cNvSpPr/>
          <p:nvPr/>
        </p:nvSpPr>
        <p:spPr>
          <a:xfrm>
            <a:off x="548640" y="768096"/>
            <a:ext cx="8046720" cy="201168"/>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Real-Time Visibility Over Society Residents, Staff, and Financial Health</a:t>
            </a:r>
            <a:endParaRPr lang="en-US" sz="950" dirty="0"/>
          </a:p>
        </p:txBody>
      </p:sp>
      <p:sp>
        <p:nvSpPr>
          <p:cNvPr id="6" name="Shape 4"/>
          <p:cNvSpPr/>
          <p:nvPr/>
        </p:nvSpPr>
        <p:spPr>
          <a:xfrm>
            <a:off x="548640" y="1005840"/>
            <a:ext cx="8046720" cy="9144"/>
          </a:xfrm>
          <a:prstGeom prst="rect">
            <a:avLst/>
          </a:prstGeom>
          <a:solidFill>
            <a:srgbClr val="E2E8F0"/>
          </a:solidFill>
          <a:ln w="12700">
            <a:solidFill>
              <a:srgbClr val="E2E8F0"/>
            </a:solidFill>
            <a:prstDash val="solid"/>
          </a:ln>
        </p:spPr>
      </p:sp>
      <p:sp>
        <p:nvSpPr>
          <p:cNvPr id="7" name="Shape 5"/>
          <p:cNvSpPr/>
          <p:nvPr/>
        </p:nvSpPr>
        <p:spPr>
          <a:xfrm>
            <a:off x="548640" y="4754880"/>
            <a:ext cx="8046720" cy="9144"/>
          </a:xfrm>
          <a:prstGeom prst="rect">
            <a:avLst/>
          </a:prstGeom>
          <a:solidFill>
            <a:srgbClr val="E2E8F0"/>
          </a:solidFill>
          <a:ln w="12700">
            <a:solidFill>
              <a:srgbClr val="E2E8F0"/>
            </a:solidFill>
            <a:prstDash val="solid"/>
          </a:ln>
        </p:spPr>
      </p:sp>
      <p:sp>
        <p:nvSpPr>
          <p:cNvPr id="8" name="Text 6"/>
          <p:cNvSpPr/>
          <p:nvPr/>
        </p:nvSpPr>
        <p:spPr>
          <a:xfrm>
            <a:off x="548640" y="4800600"/>
            <a:ext cx="5943600" cy="201168"/>
          </a:xfrm>
          <a:prstGeom prst="rect">
            <a:avLst/>
          </a:prstGeom>
          <a:noFill/>
          <a:ln/>
        </p:spPr>
        <p:txBody>
          <a:bodyPr wrap="square" rtlCol="0" anchor="ctr"/>
          <a:lstStyle/>
          <a:p>
            <a:pPr indent="0" marL="0">
              <a:buNone/>
            </a:pPr>
            <a:r>
              <a:rPr lang="en-US" sz="850" dirty="0">
                <a:solidFill>
                  <a:srgbClr val="64748B"/>
                </a:solidFill>
                <a:latin typeface="Calibri" pitchFamily="34" charset="0"/>
                <a:ea typeface="Calibri" pitchFamily="34" charset="-122"/>
                <a:cs typeface="Calibri" pitchFamily="34" charset="-120"/>
              </a:rPr>
              <a:t>GateSync — Smart Society Security System  |  Arpitsinh Thakor (23SE02IE040)</a:t>
            </a:r>
            <a:endParaRPr lang="en-US" sz="850" dirty="0"/>
          </a:p>
        </p:txBody>
      </p:sp>
      <p:sp>
        <p:nvSpPr>
          <p:cNvPr id="9" name="Text 7"/>
          <p:cNvSpPr/>
          <p:nvPr/>
        </p:nvSpPr>
        <p:spPr>
          <a:xfrm>
            <a:off x="6583680" y="4800600"/>
            <a:ext cx="2011680" cy="201168"/>
          </a:xfrm>
          <a:prstGeom prst="rect">
            <a:avLst/>
          </a:prstGeom>
          <a:noFill/>
          <a:ln/>
        </p:spPr>
        <p:txBody>
          <a:bodyPr wrap="square" rtlCol="0" anchor="ctr"/>
          <a:lstStyle/>
          <a:p>
            <a:pPr algn="r" indent="0" marL="0">
              <a:buNone/>
            </a:pPr>
            <a:r>
              <a:rPr lang="en-US" sz="850" b="1" dirty="0">
                <a:solidFill>
                  <a:srgbClr val="1E40AF"/>
                </a:solidFill>
                <a:latin typeface="Calibri" pitchFamily="34" charset="0"/>
                <a:ea typeface="Calibri" pitchFamily="34" charset="-122"/>
                <a:cs typeface="Calibri" pitchFamily="34" charset="-120"/>
              </a:rPr>
              <a:t>SCHOOL OF ENGINEERING  •  SLIDE 8 / 12</a:t>
            </a:r>
            <a:endParaRPr lang="en-US" sz="850" dirty="0"/>
          </a:p>
        </p:txBody>
      </p:sp>
      <p:sp>
        <p:nvSpPr>
          <p:cNvPr id="10" name="Shape 8"/>
          <p:cNvSpPr/>
          <p:nvPr/>
        </p:nvSpPr>
        <p:spPr>
          <a:xfrm>
            <a:off x="548640" y="1143000"/>
            <a:ext cx="3657600" cy="3474720"/>
          </a:xfrm>
          <a:prstGeom prst="rect">
            <a:avLst/>
          </a:prstGeom>
          <a:solidFill>
            <a:srgbClr val="FFFFFF"/>
          </a:solidFill>
          <a:ln w="12700">
            <a:solidFill>
              <a:srgbClr val="E2E8F0"/>
            </a:solidFill>
            <a:prstDash val="solid"/>
          </a:ln>
        </p:spPr>
      </p:sp>
      <p:sp>
        <p:nvSpPr>
          <p:cNvPr id="11" name="Shape 9"/>
          <p:cNvSpPr/>
          <p:nvPr/>
        </p:nvSpPr>
        <p:spPr>
          <a:xfrm>
            <a:off x="548640" y="1143000"/>
            <a:ext cx="73152" cy="3474720"/>
          </a:xfrm>
          <a:prstGeom prst="rect">
            <a:avLst/>
          </a:prstGeom>
          <a:solidFill>
            <a:srgbClr val="1E40AF"/>
          </a:solidFill>
          <a:ln w="12700">
            <a:solidFill>
              <a:srgbClr val="1E40AF"/>
            </a:solidFill>
            <a:prstDash val="solid"/>
          </a:ln>
        </p:spPr>
      </p:sp>
      <p:sp>
        <p:nvSpPr>
          <p:cNvPr id="12" name="Text 10"/>
          <p:cNvSpPr/>
          <p:nvPr/>
        </p:nvSpPr>
        <p:spPr>
          <a:xfrm>
            <a:off x="777240" y="1280160"/>
            <a:ext cx="3291840" cy="256032"/>
          </a:xfrm>
          <a:prstGeom prst="rect">
            <a:avLst/>
          </a:prstGeom>
          <a:noFill/>
          <a:ln/>
        </p:spPr>
        <p:txBody>
          <a:bodyPr wrap="square" rtlCol="0" anchor="ctr"/>
          <a:lstStyle/>
          <a:p>
            <a:pPr indent="0" marL="0">
              <a:buNone/>
            </a:pPr>
            <a:r>
              <a:rPr lang="en-US" sz="1100" b="1" dirty="0">
                <a:solidFill>
                  <a:srgbClr val="1E40AF"/>
                </a:solidFill>
                <a:latin typeface="Calibri" pitchFamily="34" charset="0"/>
                <a:ea typeface="Calibri" pitchFamily="34" charset="-122"/>
                <a:cs typeface="Calibri" pitchFamily="34" charset="-120"/>
              </a:rPr>
              <a:t>MANAGEMENT COMMAND CAPABILITIES</a:t>
            </a:r>
            <a:endParaRPr lang="en-US" sz="1100" dirty="0"/>
          </a:p>
        </p:txBody>
      </p:sp>
      <p:sp>
        <p:nvSpPr>
          <p:cNvPr id="13" name="Text 11"/>
          <p:cNvSpPr/>
          <p:nvPr/>
        </p:nvSpPr>
        <p:spPr>
          <a:xfrm>
            <a:off x="777240" y="1600200"/>
            <a:ext cx="3291840" cy="2880360"/>
          </a:xfrm>
          <a:prstGeom prst="rect">
            <a:avLst/>
          </a:prstGeom>
          <a:noFill/>
          <a:ln/>
        </p:spPr>
        <p:txBody>
          <a:bodyPr wrap="square" rtlCol="0" anchor="ctr"/>
          <a:lstStyle/>
          <a:p>
            <a:pPr indent="0" marL="0">
              <a:buNone/>
            </a:pPr>
            <a:r>
              <a:rPr lang="en-US" sz="850" b="1" dirty="0">
                <a:solidFill>
                  <a:srgbClr val="0F172A"/>
                </a:solidFill>
                <a:latin typeface="Calibri" pitchFamily="34" charset="0"/>
                <a:ea typeface="Calibri" pitchFamily="34" charset="-122"/>
                <a:cs typeface="Calibri" pitchFamily="34" charset="-120"/>
              </a:rPr>
              <a:t>•  Financial Collections Trend &amp; Accounting
</a:t>
            </a:r>
            <a:pPr indent="0" marL="0">
              <a:buNone/>
            </a:pPr>
            <a:r>
              <a:rPr lang="en-US" sz="850" dirty="0">
                <a:solidFill>
                  <a:srgbClr val="334155"/>
                </a:solidFill>
                <a:latin typeface="Calibri" pitchFamily="34" charset="0"/>
                <a:ea typeface="Calibri" pitchFamily="34" charset="-122"/>
                <a:cs typeface="Calibri" pitchFamily="34" charset="-120"/>
              </a:rPr>
              <a:t>Monthly maintenance revenue trajectory tracking (INR) with payment breakdown, pending dues, and automated digital receipts.
</a:t>
            </a:r>
            <a:pPr indent="0" marL="0">
              <a:buNone/>
            </a:pPr>
            <a:r>
              <a:rPr lang="en-US" sz="850" b="1" dirty="0">
                <a:solidFill>
                  <a:srgbClr val="0F172A"/>
                </a:solidFill>
                <a:latin typeface="Calibri" pitchFamily="34" charset="0"/>
                <a:ea typeface="Calibri" pitchFamily="34" charset="-122"/>
                <a:cs typeface="Calibri" pitchFamily="34" charset="-120"/>
              </a:rPr>
              <a:t>•  Resident &amp; Flat Occupancy Records
</a:t>
            </a:r>
            <a:pPr indent="0" marL="0">
              <a:buNone/>
            </a:pPr>
            <a:r>
              <a:rPr lang="en-US" sz="850" dirty="0">
                <a:solidFill>
                  <a:srgbClr val="334155"/>
                </a:solidFill>
                <a:latin typeface="Calibri" pitchFamily="34" charset="0"/>
                <a:ea typeface="Calibri" pitchFamily="34" charset="-122"/>
                <a:cs typeface="Calibri" pitchFamily="34" charset="-120"/>
              </a:rPr>
              <a:t>Complete directory of 11+ occupied society units, family members, registered vehicles, and tenant lease statuses.
</a:t>
            </a:r>
            <a:pPr indent="0" marL="0">
              <a:buNone/>
            </a:pPr>
            <a:r>
              <a:rPr lang="en-US" sz="850" b="1" dirty="0">
                <a:solidFill>
                  <a:srgbClr val="0F172A"/>
                </a:solidFill>
                <a:latin typeface="Calibri" pitchFamily="34" charset="0"/>
                <a:ea typeface="Calibri" pitchFamily="34" charset="-122"/>
                <a:cs typeface="Calibri" pitchFamily="34" charset="-120"/>
              </a:rPr>
              <a:t>•  Staff Administration &amp; Active Guard Duty
</a:t>
            </a:r>
            <a:pPr indent="0" marL="0">
              <a:buNone/>
            </a:pPr>
            <a:r>
              <a:rPr lang="en-US" sz="850" dirty="0">
                <a:solidFill>
                  <a:srgbClr val="334155"/>
                </a:solidFill>
                <a:latin typeface="Calibri" pitchFamily="34" charset="0"/>
                <a:ea typeface="Calibri" pitchFamily="34" charset="-122"/>
                <a:cs typeface="Calibri" pitchFamily="34" charset="-120"/>
              </a:rPr>
              <a:t>Real-time monitoring of active security personnel on shift, assigned gate booths, and duty logs.
</a:t>
            </a:r>
            <a:pPr indent="0" marL="0">
              <a:buNone/>
            </a:pPr>
            <a:r>
              <a:rPr lang="en-US" sz="850" b="1" dirty="0">
                <a:solidFill>
                  <a:srgbClr val="0F172A"/>
                </a:solidFill>
                <a:latin typeface="Calibri" pitchFamily="34" charset="0"/>
                <a:ea typeface="Calibri" pitchFamily="34" charset="-122"/>
                <a:cs typeface="Calibri" pitchFamily="34" charset="-120"/>
              </a:rPr>
              <a:t>•  Emergency Notice Board &amp; Broadcasts
</a:t>
            </a:r>
            <a:pPr indent="0" marL="0">
              <a:buNone/>
            </a:pPr>
            <a:r>
              <a:rPr lang="en-US" sz="850" dirty="0">
                <a:solidFill>
                  <a:srgbClr val="334155"/>
                </a:solidFill>
                <a:latin typeface="Calibri" pitchFamily="34" charset="0"/>
                <a:ea typeface="Calibri" pitchFamily="34" charset="-122"/>
                <a:cs typeface="Calibri" pitchFamily="34" charset="-120"/>
              </a:rPr>
              <a:t>Instant publishing of critical circulars, water maintenance alerts, and society meeting notices to all resident phones.</a:t>
            </a:r>
            <a:endParaRPr lang="en-US" sz="850" dirty="0"/>
          </a:p>
        </p:txBody>
      </p:sp>
      <p:sp>
        <p:nvSpPr>
          <p:cNvPr id="14" name="Shape 12"/>
          <p:cNvSpPr/>
          <p:nvPr/>
        </p:nvSpPr>
        <p:spPr>
          <a:xfrm>
            <a:off x="4434840" y="1143000"/>
            <a:ext cx="4160520" cy="3474720"/>
          </a:xfrm>
          <a:prstGeom prst="rect">
            <a:avLst/>
          </a:prstGeom>
          <a:solidFill>
            <a:srgbClr val="FFFFFF"/>
          </a:solidFill>
          <a:ln w="12700">
            <a:solidFill>
              <a:srgbClr val="E2E8F0"/>
            </a:solidFill>
            <a:prstDash val="solid"/>
          </a:ln>
        </p:spPr>
      </p:sp>
      <p:sp>
        <p:nvSpPr>
          <p:cNvPr id="15" name="Text 13"/>
          <p:cNvSpPr/>
          <p:nvPr/>
        </p:nvSpPr>
        <p:spPr>
          <a:xfrm>
            <a:off x="4617720" y="1280160"/>
            <a:ext cx="3794760" cy="228600"/>
          </a:xfrm>
          <a:prstGeom prst="rect">
            <a:avLst/>
          </a:prstGeom>
          <a:noFill/>
          <a:ln/>
        </p:spPr>
        <p:txBody>
          <a:bodyPr wrap="square" rtlCol="0" anchor="ctr"/>
          <a:lstStyle/>
          <a:p>
            <a:pPr indent="0" marL="0">
              <a:buNone/>
            </a:pPr>
            <a:r>
              <a:rPr lang="en-US" sz="950" b="1" dirty="0">
                <a:solidFill>
                  <a:srgbClr val="0F2942"/>
                </a:solidFill>
                <a:latin typeface="Calibri" pitchFamily="34" charset="0"/>
                <a:ea typeface="Calibri" pitchFamily="34" charset="-122"/>
                <a:cs typeface="Calibri" pitchFamily="34" charset="-120"/>
              </a:rPr>
              <a:t>SYSTEM INTERFACE: ADMIN PORTAL DASHBOARD</a:t>
            </a:r>
            <a:endParaRPr lang="en-US" sz="950" dirty="0"/>
          </a:p>
        </p:txBody>
      </p:sp>
      <p:pic>
        <p:nvPicPr>
          <p:cNvPr id="16" name="Image 0" descr="D:\Projects\GATESYNC\screenshots\actual_gatesync_dashboard_dark.png">    </p:cNvPr>
          <p:cNvPicPr>
            <a:picLocks noChangeAspect="1"/>
          </p:cNvPicPr>
          <p:nvPr/>
        </p:nvPicPr>
        <p:blipFill>
          <a:blip r:embed="rId1"/>
          <a:stretch>
            <a:fillRect/>
          </a:stretch>
        </p:blipFill>
        <p:spPr>
          <a:xfrm>
            <a:off x="4617720" y="1600200"/>
            <a:ext cx="3794760" cy="28346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1E40AF"/>
          </a:solidFill>
          <a:ln w="12700">
            <a:solidFill>
              <a:srgbClr val="1E40AF"/>
            </a:solidFill>
            <a:prstDash val="solid"/>
          </a:ln>
        </p:spPr>
      </p:sp>
      <p:sp>
        <p:nvSpPr>
          <p:cNvPr id="3" name="Text 1"/>
          <p:cNvSpPr/>
          <p:nvPr/>
        </p:nvSpPr>
        <p:spPr>
          <a:xfrm>
            <a:off x="548640" y="219456"/>
            <a:ext cx="5486400" cy="201168"/>
          </a:xfrm>
          <a:prstGeom prst="rect">
            <a:avLst/>
          </a:prstGeom>
          <a:noFill/>
          <a:ln/>
        </p:spPr>
        <p:txBody>
          <a:bodyPr wrap="square" rtlCol="0" anchor="ctr"/>
          <a:lstStyle/>
          <a:p>
            <a:pPr indent="0" marL="0">
              <a:buNone/>
            </a:pPr>
            <a:r>
              <a:rPr lang="en-US" sz="850" b="1" dirty="0">
                <a:solidFill>
                  <a:srgbClr val="1E40AF"/>
                </a:solidFill>
                <a:latin typeface="Calibri" pitchFamily="34" charset="0"/>
                <a:ea typeface="Calibri" pitchFamily="34" charset="-122"/>
                <a:cs typeface="Calibri" pitchFamily="34" charset="-120"/>
              </a:rPr>
              <a:t>SECTION 08  |  SECURITY ARCHITECTURE</a:t>
            </a:r>
            <a:endParaRPr lang="en-US" sz="850" dirty="0"/>
          </a:p>
        </p:txBody>
      </p:sp>
      <p:sp>
        <p:nvSpPr>
          <p:cNvPr id="4" name="Text 2"/>
          <p:cNvSpPr/>
          <p:nvPr/>
        </p:nvSpPr>
        <p:spPr>
          <a:xfrm>
            <a:off x="548640" y="420624"/>
            <a:ext cx="8046720" cy="347472"/>
          </a:xfrm>
          <a:prstGeom prst="rect">
            <a:avLst/>
          </a:prstGeom>
          <a:noFill/>
          <a:ln/>
        </p:spPr>
        <p:txBody>
          <a:bodyPr wrap="square" rtlCol="0" anchor="ctr"/>
          <a:lstStyle/>
          <a:p>
            <a:pPr indent="0" marL="0">
              <a:buNone/>
            </a:pPr>
            <a:r>
              <a:rPr lang="en-US" sz="1800" b="1" dirty="0">
                <a:solidFill>
                  <a:srgbClr val="0F2942"/>
                </a:solidFill>
                <a:latin typeface="Calibri" pitchFamily="34" charset="0"/>
                <a:ea typeface="Calibri" pitchFamily="34" charset="-122"/>
                <a:cs typeface="Calibri" pitchFamily="34" charset="-120"/>
              </a:rPr>
              <a:t>Security Architecture &amp; Data Protection</a:t>
            </a:r>
            <a:endParaRPr lang="en-US" sz="1800" dirty="0"/>
          </a:p>
        </p:txBody>
      </p:sp>
      <p:sp>
        <p:nvSpPr>
          <p:cNvPr id="5" name="Text 3"/>
          <p:cNvSpPr/>
          <p:nvPr/>
        </p:nvSpPr>
        <p:spPr>
          <a:xfrm>
            <a:off x="548640" y="768096"/>
            <a:ext cx="8046720" cy="201168"/>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Robust Defense Mechanisms Safeguarding Resident Privacy and Community Assets</a:t>
            </a:r>
            <a:endParaRPr lang="en-US" sz="950" dirty="0"/>
          </a:p>
        </p:txBody>
      </p:sp>
      <p:sp>
        <p:nvSpPr>
          <p:cNvPr id="6" name="Shape 4"/>
          <p:cNvSpPr/>
          <p:nvPr/>
        </p:nvSpPr>
        <p:spPr>
          <a:xfrm>
            <a:off x="548640" y="1005840"/>
            <a:ext cx="8046720" cy="9144"/>
          </a:xfrm>
          <a:prstGeom prst="rect">
            <a:avLst/>
          </a:prstGeom>
          <a:solidFill>
            <a:srgbClr val="E2E8F0"/>
          </a:solidFill>
          <a:ln w="12700">
            <a:solidFill>
              <a:srgbClr val="E2E8F0"/>
            </a:solidFill>
            <a:prstDash val="solid"/>
          </a:ln>
        </p:spPr>
      </p:sp>
      <p:sp>
        <p:nvSpPr>
          <p:cNvPr id="7" name="Shape 5"/>
          <p:cNvSpPr/>
          <p:nvPr/>
        </p:nvSpPr>
        <p:spPr>
          <a:xfrm>
            <a:off x="548640" y="4754880"/>
            <a:ext cx="8046720" cy="9144"/>
          </a:xfrm>
          <a:prstGeom prst="rect">
            <a:avLst/>
          </a:prstGeom>
          <a:solidFill>
            <a:srgbClr val="E2E8F0"/>
          </a:solidFill>
          <a:ln w="12700">
            <a:solidFill>
              <a:srgbClr val="E2E8F0"/>
            </a:solidFill>
            <a:prstDash val="solid"/>
          </a:ln>
        </p:spPr>
      </p:sp>
      <p:sp>
        <p:nvSpPr>
          <p:cNvPr id="8" name="Text 6"/>
          <p:cNvSpPr/>
          <p:nvPr/>
        </p:nvSpPr>
        <p:spPr>
          <a:xfrm>
            <a:off x="548640" y="4800600"/>
            <a:ext cx="5943600" cy="201168"/>
          </a:xfrm>
          <a:prstGeom prst="rect">
            <a:avLst/>
          </a:prstGeom>
          <a:noFill/>
          <a:ln/>
        </p:spPr>
        <p:txBody>
          <a:bodyPr wrap="square" rtlCol="0" anchor="ctr"/>
          <a:lstStyle/>
          <a:p>
            <a:pPr indent="0" marL="0">
              <a:buNone/>
            </a:pPr>
            <a:r>
              <a:rPr lang="en-US" sz="850" dirty="0">
                <a:solidFill>
                  <a:srgbClr val="64748B"/>
                </a:solidFill>
                <a:latin typeface="Calibri" pitchFamily="34" charset="0"/>
                <a:ea typeface="Calibri" pitchFamily="34" charset="-122"/>
                <a:cs typeface="Calibri" pitchFamily="34" charset="-120"/>
              </a:rPr>
              <a:t>GateSync — Smart Society Security System  |  Arpitsinh Thakor (23SE02IE040)</a:t>
            </a:r>
            <a:endParaRPr lang="en-US" sz="850" dirty="0"/>
          </a:p>
        </p:txBody>
      </p:sp>
      <p:sp>
        <p:nvSpPr>
          <p:cNvPr id="9" name="Text 7"/>
          <p:cNvSpPr/>
          <p:nvPr/>
        </p:nvSpPr>
        <p:spPr>
          <a:xfrm>
            <a:off x="6583680" y="4800600"/>
            <a:ext cx="2011680" cy="201168"/>
          </a:xfrm>
          <a:prstGeom prst="rect">
            <a:avLst/>
          </a:prstGeom>
          <a:noFill/>
          <a:ln/>
        </p:spPr>
        <p:txBody>
          <a:bodyPr wrap="square" rtlCol="0" anchor="ctr"/>
          <a:lstStyle/>
          <a:p>
            <a:pPr algn="r" indent="0" marL="0">
              <a:buNone/>
            </a:pPr>
            <a:r>
              <a:rPr lang="en-US" sz="850" b="1" dirty="0">
                <a:solidFill>
                  <a:srgbClr val="1E40AF"/>
                </a:solidFill>
                <a:latin typeface="Calibri" pitchFamily="34" charset="0"/>
                <a:ea typeface="Calibri" pitchFamily="34" charset="-122"/>
                <a:cs typeface="Calibri" pitchFamily="34" charset="-120"/>
              </a:rPr>
              <a:t>SCHOOL OF ENGINEERING  •  SLIDE 9 / 12</a:t>
            </a:r>
            <a:endParaRPr lang="en-US" sz="850" dirty="0"/>
          </a:p>
        </p:txBody>
      </p:sp>
      <p:sp>
        <p:nvSpPr>
          <p:cNvPr id="10" name="Shape 8"/>
          <p:cNvSpPr/>
          <p:nvPr/>
        </p:nvSpPr>
        <p:spPr>
          <a:xfrm>
            <a:off x="548640" y="1143000"/>
            <a:ext cx="3886200" cy="1645920"/>
          </a:xfrm>
          <a:prstGeom prst="rect">
            <a:avLst/>
          </a:prstGeom>
          <a:solidFill>
            <a:srgbClr val="FFFFFF"/>
          </a:solidFill>
          <a:ln w="12700">
            <a:solidFill>
              <a:srgbClr val="E2E8F0"/>
            </a:solidFill>
            <a:prstDash val="solid"/>
          </a:ln>
        </p:spPr>
      </p:sp>
      <p:sp>
        <p:nvSpPr>
          <p:cNvPr id="11" name="Shape 9"/>
          <p:cNvSpPr/>
          <p:nvPr/>
        </p:nvSpPr>
        <p:spPr>
          <a:xfrm>
            <a:off x="548640" y="1143000"/>
            <a:ext cx="73152" cy="1645920"/>
          </a:xfrm>
          <a:prstGeom prst="rect">
            <a:avLst/>
          </a:prstGeom>
          <a:solidFill>
            <a:srgbClr val="1E40AF"/>
          </a:solidFill>
          <a:ln w="12700">
            <a:solidFill>
              <a:srgbClr val="1E40AF"/>
            </a:solidFill>
            <a:prstDash val="solid"/>
          </a:ln>
        </p:spPr>
      </p:sp>
      <p:sp>
        <p:nvSpPr>
          <p:cNvPr id="12" name="Text 10"/>
          <p:cNvSpPr/>
          <p:nvPr/>
        </p:nvSpPr>
        <p:spPr>
          <a:xfrm>
            <a:off x="731520" y="1280160"/>
            <a:ext cx="3520440" cy="228600"/>
          </a:xfrm>
          <a:prstGeom prst="rect">
            <a:avLst/>
          </a:prstGeom>
          <a:noFill/>
          <a:ln/>
        </p:spPr>
        <p:txBody>
          <a:bodyPr wrap="square" rtlCol="0" anchor="ctr"/>
          <a:lstStyle/>
          <a:p>
            <a:pPr indent="0" marL="0">
              <a:buNone/>
            </a:pPr>
            <a:r>
              <a:rPr lang="en-US" sz="1050" b="1" dirty="0">
                <a:solidFill>
                  <a:srgbClr val="1E40AF"/>
                </a:solidFill>
                <a:latin typeface="Calibri" pitchFamily="34" charset="0"/>
                <a:ea typeface="Calibri" pitchFamily="34" charset="-122"/>
                <a:cs typeface="Calibri" pitchFamily="34" charset="-120"/>
              </a:rPr>
              <a:t>JWT STATELESS AUTHENTICATION</a:t>
            </a:r>
            <a:endParaRPr lang="en-US" sz="1050" dirty="0"/>
          </a:p>
        </p:txBody>
      </p:sp>
      <p:sp>
        <p:nvSpPr>
          <p:cNvPr id="13" name="Text 11"/>
          <p:cNvSpPr/>
          <p:nvPr/>
        </p:nvSpPr>
        <p:spPr>
          <a:xfrm>
            <a:off x="731520" y="1554480"/>
            <a:ext cx="3520440" cy="1097280"/>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All API requests require cryptographically signed JSON Web Tokens (JWT) passed via Authorization Bearer headers. Tokens have strict 24-hour expiration windows and invalid signatures are immediately rejected with HTTP 401.</a:t>
            </a:r>
            <a:endParaRPr lang="en-US" sz="900" dirty="0"/>
          </a:p>
        </p:txBody>
      </p:sp>
      <p:sp>
        <p:nvSpPr>
          <p:cNvPr id="14" name="Shape 12"/>
          <p:cNvSpPr/>
          <p:nvPr/>
        </p:nvSpPr>
        <p:spPr>
          <a:xfrm>
            <a:off x="4709160" y="1143000"/>
            <a:ext cx="3886200" cy="1645920"/>
          </a:xfrm>
          <a:prstGeom prst="rect">
            <a:avLst/>
          </a:prstGeom>
          <a:solidFill>
            <a:srgbClr val="FFFFFF"/>
          </a:solidFill>
          <a:ln w="12700">
            <a:solidFill>
              <a:srgbClr val="E2E8F0"/>
            </a:solidFill>
            <a:prstDash val="solid"/>
          </a:ln>
        </p:spPr>
      </p:sp>
      <p:sp>
        <p:nvSpPr>
          <p:cNvPr id="15" name="Shape 13"/>
          <p:cNvSpPr/>
          <p:nvPr/>
        </p:nvSpPr>
        <p:spPr>
          <a:xfrm>
            <a:off x="4709160" y="1143000"/>
            <a:ext cx="73152" cy="1645920"/>
          </a:xfrm>
          <a:prstGeom prst="rect">
            <a:avLst/>
          </a:prstGeom>
          <a:solidFill>
            <a:srgbClr val="0F2942"/>
          </a:solidFill>
          <a:ln w="12700">
            <a:solidFill>
              <a:srgbClr val="0F2942"/>
            </a:solidFill>
            <a:prstDash val="solid"/>
          </a:ln>
        </p:spPr>
      </p:sp>
      <p:sp>
        <p:nvSpPr>
          <p:cNvPr id="16" name="Text 14"/>
          <p:cNvSpPr/>
          <p:nvPr/>
        </p:nvSpPr>
        <p:spPr>
          <a:xfrm>
            <a:off x="4892040" y="1280160"/>
            <a:ext cx="3520440" cy="228600"/>
          </a:xfrm>
          <a:prstGeom prst="rect">
            <a:avLst/>
          </a:prstGeom>
          <a:noFill/>
          <a:ln/>
        </p:spPr>
        <p:txBody>
          <a:bodyPr wrap="square" rtlCol="0" anchor="ctr"/>
          <a:lstStyle/>
          <a:p>
            <a:pPr indent="0" marL="0">
              <a:buNone/>
            </a:pPr>
            <a:r>
              <a:rPr lang="en-US" sz="1050" b="1" dirty="0">
                <a:solidFill>
                  <a:srgbClr val="0F2942"/>
                </a:solidFill>
                <a:latin typeface="Calibri" pitchFamily="34" charset="0"/>
                <a:ea typeface="Calibri" pitchFamily="34" charset="-122"/>
                <a:cs typeface="Calibri" pitchFamily="34" charset="-120"/>
              </a:rPr>
              <a:t>BCRYPT PASSWORD HASHING</a:t>
            </a:r>
            <a:endParaRPr lang="en-US" sz="1050" dirty="0"/>
          </a:p>
        </p:txBody>
      </p:sp>
      <p:sp>
        <p:nvSpPr>
          <p:cNvPr id="17" name="Text 15"/>
          <p:cNvSpPr/>
          <p:nvPr/>
        </p:nvSpPr>
        <p:spPr>
          <a:xfrm>
            <a:off x="4892040" y="1554480"/>
            <a:ext cx="3520440" cy="1097280"/>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All user credentials (Residents, Security Guards, Admins) are salted and hashed using 12-round BCrypt before persistence. Passwords are never stored or transmitted in plain text.</a:t>
            </a:r>
            <a:endParaRPr lang="en-US" sz="900" dirty="0"/>
          </a:p>
        </p:txBody>
      </p:sp>
      <p:sp>
        <p:nvSpPr>
          <p:cNvPr id="18" name="Shape 16"/>
          <p:cNvSpPr/>
          <p:nvPr/>
        </p:nvSpPr>
        <p:spPr>
          <a:xfrm>
            <a:off x="548640" y="2971800"/>
            <a:ext cx="3886200" cy="1645920"/>
          </a:xfrm>
          <a:prstGeom prst="rect">
            <a:avLst/>
          </a:prstGeom>
          <a:solidFill>
            <a:srgbClr val="FFFFFF"/>
          </a:solidFill>
          <a:ln w="12700">
            <a:solidFill>
              <a:srgbClr val="E2E8F0"/>
            </a:solidFill>
            <a:prstDash val="solid"/>
          </a:ln>
        </p:spPr>
      </p:sp>
      <p:sp>
        <p:nvSpPr>
          <p:cNvPr id="19" name="Shape 17"/>
          <p:cNvSpPr/>
          <p:nvPr/>
        </p:nvSpPr>
        <p:spPr>
          <a:xfrm>
            <a:off x="548640" y="2971800"/>
            <a:ext cx="73152" cy="1645920"/>
          </a:xfrm>
          <a:prstGeom prst="rect">
            <a:avLst/>
          </a:prstGeom>
          <a:solidFill>
            <a:srgbClr val="16A34A"/>
          </a:solidFill>
          <a:ln w="12700">
            <a:solidFill>
              <a:srgbClr val="16A34A"/>
            </a:solidFill>
            <a:prstDash val="solid"/>
          </a:ln>
        </p:spPr>
      </p:sp>
      <p:sp>
        <p:nvSpPr>
          <p:cNvPr id="20" name="Text 18"/>
          <p:cNvSpPr/>
          <p:nvPr/>
        </p:nvSpPr>
        <p:spPr>
          <a:xfrm>
            <a:off x="731520" y="3108960"/>
            <a:ext cx="3520440" cy="228600"/>
          </a:xfrm>
          <a:prstGeom prst="rect">
            <a:avLst/>
          </a:prstGeom>
          <a:noFill/>
          <a:ln/>
        </p:spPr>
        <p:txBody>
          <a:bodyPr wrap="square" rtlCol="0" anchor="ctr"/>
          <a:lstStyle/>
          <a:p>
            <a:pPr indent="0" marL="0">
              <a:buNone/>
            </a:pPr>
            <a:r>
              <a:rPr lang="en-US" sz="1050" b="1" dirty="0">
                <a:solidFill>
                  <a:srgbClr val="16A34A"/>
                </a:solidFill>
                <a:latin typeface="Calibri" pitchFamily="34" charset="0"/>
                <a:ea typeface="Calibri" pitchFamily="34" charset="-122"/>
                <a:cs typeface="Calibri" pitchFamily="34" charset="-120"/>
              </a:rPr>
              <a:t>ROLE-BASED ACCESS CONTROL (RBAC)</a:t>
            </a:r>
            <a:endParaRPr lang="en-US" sz="1050" dirty="0"/>
          </a:p>
        </p:txBody>
      </p:sp>
      <p:sp>
        <p:nvSpPr>
          <p:cNvPr id="21" name="Text 19"/>
          <p:cNvSpPr/>
          <p:nvPr/>
        </p:nvSpPr>
        <p:spPr>
          <a:xfrm>
            <a:off x="731520" y="3383280"/>
            <a:ext cx="3520440" cy="1097280"/>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Spring Security enforces strict path-level authorization: Guard endpoints (/api/guard/**), Resident endpoints (/api/resident/**), and Admin endpoints (/api/admin/**) are strictly isolated with zero cross-role privilege escalation.</a:t>
            </a:r>
            <a:endParaRPr lang="en-US" sz="900" dirty="0"/>
          </a:p>
        </p:txBody>
      </p:sp>
      <p:sp>
        <p:nvSpPr>
          <p:cNvPr id="22" name="Shape 20"/>
          <p:cNvSpPr/>
          <p:nvPr/>
        </p:nvSpPr>
        <p:spPr>
          <a:xfrm>
            <a:off x="4709160" y="2971800"/>
            <a:ext cx="3886200" cy="1645920"/>
          </a:xfrm>
          <a:prstGeom prst="rect">
            <a:avLst/>
          </a:prstGeom>
          <a:solidFill>
            <a:srgbClr val="FFFFFF"/>
          </a:solidFill>
          <a:ln w="12700">
            <a:solidFill>
              <a:srgbClr val="E2E8F0"/>
            </a:solidFill>
            <a:prstDash val="solid"/>
          </a:ln>
        </p:spPr>
      </p:sp>
      <p:sp>
        <p:nvSpPr>
          <p:cNvPr id="23" name="Shape 21"/>
          <p:cNvSpPr/>
          <p:nvPr/>
        </p:nvSpPr>
        <p:spPr>
          <a:xfrm>
            <a:off x="4709160" y="2971800"/>
            <a:ext cx="73152" cy="1645920"/>
          </a:xfrm>
          <a:prstGeom prst="rect">
            <a:avLst/>
          </a:prstGeom>
          <a:solidFill>
            <a:srgbClr val="0284C7"/>
          </a:solidFill>
          <a:ln w="12700">
            <a:solidFill>
              <a:srgbClr val="0284C7"/>
            </a:solidFill>
            <a:prstDash val="solid"/>
          </a:ln>
        </p:spPr>
      </p:sp>
      <p:sp>
        <p:nvSpPr>
          <p:cNvPr id="24" name="Text 22"/>
          <p:cNvSpPr/>
          <p:nvPr/>
        </p:nvSpPr>
        <p:spPr>
          <a:xfrm>
            <a:off x="4892040" y="3108960"/>
            <a:ext cx="3520440" cy="228600"/>
          </a:xfrm>
          <a:prstGeom prst="rect">
            <a:avLst/>
          </a:prstGeom>
          <a:noFill/>
          <a:ln/>
        </p:spPr>
        <p:txBody>
          <a:bodyPr wrap="square" rtlCol="0" anchor="ctr"/>
          <a:lstStyle/>
          <a:p>
            <a:pPr indent="0" marL="0">
              <a:buNone/>
            </a:pPr>
            <a:r>
              <a:rPr lang="en-US" sz="1050" b="1" dirty="0">
                <a:solidFill>
                  <a:srgbClr val="0284C7"/>
                </a:solidFill>
                <a:latin typeface="Calibri" pitchFamily="34" charset="0"/>
                <a:ea typeface="Calibri" pitchFamily="34" charset="-122"/>
                <a:cs typeface="Calibri" pitchFamily="34" charset="-120"/>
              </a:rPr>
              <a:t>DATA PRIVACY &amp; AUDIT LOGGING</a:t>
            </a:r>
            <a:endParaRPr lang="en-US" sz="1050" dirty="0"/>
          </a:p>
        </p:txBody>
      </p:sp>
      <p:sp>
        <p:nvSpPr>
          <p:cNvPr id="25" name="Text 23"/>
          <p:cNvSpPr/>
          <p:nvPr/>
        </p:nvSpPr>
        <p:spPr>
          <a:xfrm>
            <a:off x="4892040" y="3383280"/>
            <a:ext cx="3520440" cy="1097280"/>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Visitor phone numbers are masked in public registry views to prevent data scraping. Every entry, approval, denial, and gate checkout is immutably timestamped with the exact Guard ID and timestamp for forensic audit trails.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1E40AF"/>
          </a:solidFill>
          <a:ln w="12700">
            <a:solidFill>
              <a:srgbClr val="1E40AF"/>
            </a:solidFill>
            <a:prstDash val="solid"/>
          </a:ln>
        </p:spPr>
      </p:sp>
      <p:sp>
        <p:nvSpPr>
          <p:cNvPr id="3" name="Text 1"/>
          <p:cNvSpPr/>
          <p:nvPr/>
        </p:nvSpPr>
        <p:spPr>
          <a:xfrm>
            <a:off x="548640" y="219456"/>
            <a:ext cx="5486400" cy="201168"/>
          </a:xfrm>
          <a:prstGeom prst="rect">
            <a:avLst/>
          </a:prstGeom>
          <a:noFill/>
          <a:ln/>
        </p:spPr>
        <p:txBody>
          <a:bodyPr wrap="square" rtlCol="0" anchor="ctr"/>
          <a:lstStyle/>
          <a:p>
            <a:pPr indent="0" marL="0">
              <a:buNone/>
            </a:pPr>
            <a:r>
              <a:rPr lang="en-US" sz="850" b="1" dirty="0">
                <a:solidFill>
                  <a:srgbClr val="1E40AF"/>
                </a:solidFill>
                <a:latin typeface="Calibri" pitchFamily="34" charset="0"/>
                <a:ea typeface="Calibri" pitchFamily="34" charset="-122"/>
                <a:cs typeface="Calibri" pitchFamily="34" charset="-120"/>
              </a:rPr>
              <a:t>SECTION 09  |  CLOUD DEVOPS</a:t>
            </a:r>
            <a:endParaRPr lang="en-US" sz="850" dirty="0"/>
          </a:p>
        </p:txBody>
      </p:sp>
      <p:sp>
        <p:nvSpPr>
          <p:cNvPr id="4" name="Text 2"/>
          <p:cNvSpPr/>
          <p:nvPr/>
        </p:nvSpPr>
        <p:spPr>
          <a:xfrm>
            <a:off x="548640" y="420624"/>
            <a:ext cx="8046720" cy="347472"/>
          </a:xfrm>
          <a:prstGeom prst="rect">
            <a:avLst/>
          </a:prstGeom>
          <a:noFill/>
          <a:ln/>
        </p:spPr>
        <p:txBody>
          <a:bodyPr wrap="square" rtlCol="0" anchor="ctr"/>
          <a:lstStyle/>
          <a:p>
            <a:pPr indent="0" marL="0">
              <a:buNone/>
            </a:pPr>
            <a:r>
              <a:rPr lang="en-US" sz="1800" b="1" dirty="0">
                <a:solidFill>
                  <a:srgbClr val="0F2942"/>
                </a:solidFill>
                <a:latin typeface="Calibri" pitchFamily="34" charset="0"/>
                <a:ea typeface="Calibri" pitchFamily="34" charset="-122"/>
                <a:cs typeface="Calibri" pitchFamily="34" charset="-120"/>
              </a:rPr>
              <a:t>Production Cloud Deployment Architecture</a:t>
            </a:r>
            <a:endParaRPr lang="en-US" sz="1800" dirty="0"/>
          </a:p>
        </p:txBody>
      </p:sp>
      <p:sp>
        <p:nvSpPr>
          <p:cNvPr id="5" name="Text 3"/>
          <p:cNvSpPr/>
          <p:nvPr/>
        </p:nvSpPr>
        <p:spPr>
          <a:xfrm>
            <a:off x="548640" y="768096"/>
            <a:ext cx="8046720" cy="201168"/>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Continuous Delivery, Containerization, and Automated Uptime Monitoring</a:t>
            </a:r>
            <a:endParaRPr lang="en-US" sz="950" dirty="0"/>
          </a:p>
        </p:txBody>
      </p:sp>
      <p:sp>
        <p:nvSpPr>
          <p:cNvPr id="6" name="Shape 4"/>
          <p:cNvSpPr/>
          <p:nvPr/>
        </p:nvSpPr>
        <p:spPr>
          <a:xfrm>
            <a:off x="548640" y="1005840"/>
            <a:ext cx="8046720" cy="9144"/>
          </a:xfrm>
          <a:prstGeom prst="rect">
            <a:avLst/>
          </a:prstGeom>
          <a:solidFill>
            <a:srgbClr val="E2E8F0"/>
          </a:solidFill>
          <a:ln w="12700">
            <a:solidFill>
              <a:srgbClr val="E2E8F0"/>
            </a:solidFill>
            <a:prstDash val="solid"/>
          </a:ln>
        </p:spPr>
      </p:sp>
      <p:sp>
        <p:nvSpPr>
          <p:cNvPr id="7" name="Shape 5"/>
          <p:cNvSpPr/>
          <p:nvPr/>
        </p:nvSpPr>
        <p:spPr>
          <a:xfrm>
            <a:off x="548640" y="4754880"/>
            <a:ext cx="8046720" cy="9144"/>
          </a:xfrm>
          <a:prstGeom prst="rect">
            <a:avLst/>
          </a:prstGeom>
          <a:solidFill>
            <a:srgbClr val="E2E8F0"/>
          </a:solidFill>
          <a:ln w="12700">
            <a:solidFill>
              <a:srgbClr val="E2E8F0"/>
            </a:solidFill>
            <a:prstDash val="solid"/>
          </a:ln>
        </p:spPr>
      </p:sp>
      <p:sp>
        <p:nvSpPr>
          <p:cNvPr id="8" name="Text 6"/>
          <p:cNvSpPr/>
          <p:nvPr/>
        </p:nvSpPr>
        <p:spPr>
          <a:xfrm>
            <a:off x="548640" y="4800600"/>
            <a:ext cx="5943600" cy="201168"/>
          </a:xfrm>
          <a:prstGeom prst="rect">
            <a:avLst/>
          </a:prstGeom>
          <a:noFill/>
          <a:ln/>
        </p:spPr>
        <p:txBody>
          <a:bodyPr wrap="square" rtlCol="0" anchor="ctr"/>
          <a:lstStyle/>
          <a:p>
            <a:pPr indent="0" marL="0">
              <a:buNone/>
            </a:pPr>
            <a:r>
              <a:rPr lang="en-US" sz="850" dirty="0">
                <a:solidFill>
                  <a:srgbClr val="64748B"/>
                </a:solidFill>
                <a:latin typeface="Calibri" pitchFamily="34" charset="0"/>
                <a:ea typeface="Calibri" pitchFamily="34" charset="-122"/>
                <a:cs typeface="Calibri" pitchFamily="34" charset="-120"/>
              </a:rPr>
              <a:t>GateSync — Smart Society Security System  |  Arpitsinh Thakor (23SE02IE040)</a:t>
            </a:r>
            <a:endParaRPr lang="en-US" sz="850" dirty="0"/>
          </a:p>
        </p:txBody>
      </p:sp>
      <p:sp>
        <p:nvSpPr>
          <p:cNvPr id="9" name="Text 7"/>
          <p:cNvSpPr/>
          <p:nvPr/>
        </p:nvSpPr>
        <p:spPr>
          <a:xfrm>
            <a:off x="6583680" y="4800600"/>
            <a:ext cx="2011680" cy="201168"/>
          </a:xfrm>
          <a:prstGeom prst="rect">
            <a:avLst/>
          </a:prstGeom>
          <a:noFill/>
          <a:ln/>
        </p:spPr>
        <p:txBody>
          <a:bodyPr wrap="square" rtlCol="0" anchor="ctr"/>
          <a:lstStyle/>
          <a:p>
            <a:pPr algn="r" indent="0" marL="0">
              <a:buNone/>
            </a:pPr>
            <a:r>
              <a:rPr lang="en-US" sz="850" b="1" dirty="0">
                <a:solidFill>
                  <a:srgbClr val="1E40AF"/>
                </a:solidFill>
                <a:latin typeface="Calibri" pitchFamily="34" charset="0"/>
                <a:ea typeface="Calibri" pitchFamily="34" charset="-122"/>
                <a:cs typeface="Calibri" pitchFamily="34" charset="-120"/>
              </a:rPr>
              <a:t>SCHOOL OF ENGINEERING  •  SLIDE 10 / 12</a:t>
            </a:r>
            <a:endParaRPr lang="en-US" sz="850" dirty="0"/>
          </a:p>
        </p:txBody>
      </p:sp>
      <p:sp>
        <p:nvSpPr>
          <p:cNvPr id="10" name="Shape 8"/>
          <p:cNvSpPr/>
          <p:nvPr/>
        </p:nvSpPr>
        <p:spPr>
          <a:xfrm>
            <a:off x="548640" y="1143000"/>
            <a:ext cx="2377440" cy="3474720"/>
          </a:xfrm>
          <a:prstGeom prst="rect">
            <a:avLst/>
          </a:prstGeom>
          <a:solidFill>
            <a:srgbClr val="FFFFFF"/>
          </a:solidFill>
          <a:ln w="12700">
            <a:solidFill>
              <a:srgbClr val="E2E8F0"/>
            </a:solidFill>
            <a:prstDash val="solid"/>
          </a:ln>
        </p:spPr>
      </p:sp>
      <p:sp>
        <p:nvSpPr>
          <p:cNvPr id="11" name="Shape 9"/>
          <p:cNvSpPr/>
          <p:nvPr/>
        </p:nvSpPr>
        <p:spPr>
          <a:xfrm>
            <a:off x="548640" y="1143000"/>
            <a:ext cx="2377440" cy="45720"/>
          </a:xfrm>
          <a:prstGeom prst="rect">
            <a:avLst/>
          </a:prstGeom>
          <a:solidFill>
            <a:srgbClr val="1E40AF"/>
          </a:solidFill>
          <a:ln w="12700">
            <a:solidFill>
              <a:srgbClr val="1E40AF"/>
            </a:solidFill>
            <a:prstDash val="solid"/>
          </a:ln>
        </p:spPr>
      </p:sp>
      <p:sp>
        <p:nvSpPr>
          <p:cNvPr id="12" name="Text 10"/>
          <p:cNvSpPr/>
          <p:nvPr/>
        </p:nvSpPr>
        <p:spPr>
          <a:xfrm>
            <a:off x="685800" y="1280160"/>
            <a:ext cx="2103120" cy="201168"/>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FRONTEND PWA HOSTING</a:t>
            </a:r>
            <a:endParaRPr lang="en-US" sz="1000" dirty="0"/>
          </a:p>
        </p:txBody>
      </p:sp>
      <p:sp>
        <p:nvSpPr>
          <p:cNvPr id="13" name="Text 11"/>
          <p:cNvSpPr/>
          <p:nvPr/>
        </p:nvSpPr>
        <p:spPr>
          <a:xfrm>
            <a:off x="685800" y="1481328"/>
            <a:ext cx="2103120" cy="228600"/>
          </a:xfrm>
          <a:prstGeom prst="rect">
            <a:avLst/>
          </a:prstGeom>
          <a:noFill/>
          <a:ln/>
        </p:spPr>
        <p:txBody>
          <a:bodyPr wrap="square"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GitHub Pages CDN</a:t>
            </a:r>
            <a:endParaRPr lang="en-US" sz="1200" dirty="0"/>
          </a:p>
        </p:txBody>
      </p:sp>
      <p:sp>
        <p:nvSpPr>
          <p:cNvPr id="14" name="Text 12"/>
          <p:cNvSpPr/>
          <p:nvPr/>
        </p:nvSpPr>
        <p:spPr>
          <a:xfrm>
            <a:off x="685800" y="1783080"/>
            <a:ext cx="2103120" cy="2697480"/>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  Vite-optimized production bundle with route code-splitting and asset compression.</a:t>
            </a:r>
            <a:endParaRPr lang="en-US" sz="850" dirty="0"/>
          </a:p>
          <a:p>
            <a:pPr indent="0" marL="0">
              <a:buNone/>
            </a:pP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  Configured with custom base routing (`/sms1/`) and HTTPS encryption.</a:t>
            </a:r>
            <a:endParaRPr lang="en-US" sz="850" dirty="0"/>
          </a:p>
          <a:p>
            <a:pPr indent="0" marL="0">
              <a:buNone/>
            </a:pP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  PWA Service Worker caches core static shell for offline accessibility.</a:t>
            </a:r>
            <a:endParaRPr lang="en-US" sz="850" dirty="0"/>
          </a:p>
          <a:p>
            <a:pPr indent="0" marL="0">
              <a:buNone/>
            </a:pP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  Zero-cost hosting with 99.99% worldwide edge delivery SLA.</a:t>
            </a:r>
            <a:endParaRPr lang="en-US" sz="850" dirty="0"/>
          </a:p>
        </p:txBody>
      </p:sp>
      <p:sp>
        <p:nvSpPr>
          <p:cNvPr id="15" name="Shape 13"/>
          <p:cNvSpPr/>
          <p:nvPr/>
        </p:nvSpPr>
        <p:spPr>
          <a:xfrm>
            <a:off x="3383280" y="1143000"/>
            <a:ext cx="2377440" cy="3474720"/>
          </a:xfrm>
          <a:prstGeom prst="rect">
            <a:avLst/>
          </a:prstGeom>
          <a:solidFill>
            <a:srgbClr val="FFFFFF"/>
          </a:solidFill>
          <a:ln w="12700">
            <a:solidFill>
              <a:srgbClr val="E2E8F0"/>
            </a:solidFill>
            <a:prstDash val="solid"/>
          </a:ln>
        </p:spPr>
      </p:sp>
      <p:sp>
        <p:nvSpPr>
          <p:cNvPr id="16" name="Shape 14"/>
          <p:cNvSpPr/>
          <p:nvPr/>
        </p:nvSpPr>
        <p:spPr>
          <a:xfrm>
            <a:off x="3383280" y="1143000"/>
            <a:ext cx="2377440" cy="45720"/>
          </a:xfrm>
          <a:prstGeom prst="rect">
            <a:avLst/>
          </a:prstGeom>
          <a:solidFill>
            <a:srgbClr val="0F2942"/>
          </a:solidFill>
          <a:ln w="12700">
            <a:solidFill>
              <a:srgbClr val="0F2942"/>
            </a:solidFill>
            <a:prstDash val="solid"/>
          </a:ln>
        </p:spPr>
      </p:sp>
      <p:sp>
        <p:nvSpPr>
          <p:cNvPr id="17" name="Text 15"/>
          <p:cNvSpPr/>
          <p:nvPr/>
        </p:nvSpPr>
        <p:spPr>
          <a:xfrm>
            <a:off x="3520440" y="1280160"/>
            <a:ext cx="2103120" cy="201168"/>
          </a:xfrm>
          <a:prstGeom prst="rect">
            <a:avLst/>
          </a:prstGeom>
          <a:noFill/>
          <a:ln/>
        </p:spPr>
        <p:txBody>
          <a:bodyPr wrap="square" rtlCol="0" anchor="ctr"/>
          <a:lstStyle/>
          <a:p>
            <a:pPr indent="0" marL="0">
              <a:buNone/>
            </a:pPr>
            <a:r>
              <a:rPr lang="en-US" sz="1000" b="1" dirty="0">
                <a:solidFill>
                  <a:srgbClr val="0F2942"/>
                </a:solidFill>
                <a:latin typeface="Calibri" pitchFamily="34" charset="0"/>
                <a:ea typeface="Calibri" pitchFamily="34" charset="-122"/>
                <a:cs typeface="Calibri" pitchFamily="34" charset="-120"/>
              </a:rPr>
              <a:t>DOCKER BACKEND CONTAINER</a:t>
            </a:r>
            <a:endParaRPr lang="en-US" sz="1000" dirty="0"/>
          </a:p>
        </p:txBody>
      </p:sp>
      <p:sp>
        <p:nvSpPr>
          <p:cNvPr id="18" name="Text 16"/>
          <p:cNvSpPr/>
          <p:nvPr/>
        </p:nvSpPr>
        <p:spPr>
          <a:xfrm>
            <a:off x="3520440" y="1481328"/>
            <a:ext cx="2103120" cy="228600"/>
          </a:xfrm>
          <a:prstGeom prst="rect">
            <a:avLst/>
          </a:prstGeom>
          <a:noFill/>
          <a:ln/>
        </p:spPr>
        <p:txBody>
          <a:bodyPr wrap="square"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Render Cloud (Java 21 JRE)</a:t>
            </a:r>
            <a:endParaRPr lang="en-US" sz="1200" dirty="0"/>
          </a:p>
        </p:txBody>
      </p:sp>
      <p:sp>
        <p:nvSpPr>
          <p:cNvPr id="19" name="Text 17"/>
          <p:cNvSpPr/>
          <p:nvPr/>
        </p:nvSpPr>
        <p:spPr>
          <a:xfrm>
            <a:off x="3520440" y="1783080"/>
            <a:ext cx="2103120" cy="2697480"/>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  Multi-stage Dockerfile compiling Spring Boot with Maven 3.9 on Eclipse Temurin 21.</a:t>
            </a:r>
            <a:endParaRPr lang="en-US" sz="850" dirty="0"/>
          </a:p>
          <a:p>
            <a:pPr indent="0" marL="0">
              <a:buNone/>
            </a:pP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  Minimal production container size (280MB) on Alpine Linux runtime.</a:t>
            </a:r>
            <a:endParaRPr lang="en-US" sz="850" dirty="0"/>
          </a:p>
          <a:p>
            <a:pPr indent="0" marL="0">
              <a:buNone/>
            </a:pP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  Configured to listen dynamically on `$PORT` (10000) with memory constraints.</a:t>
            </a:r>
            <a:endParaRPr lang="en-US" sz="850" dirty="0"/>
          </a:p>
          <a:p>
            <a:pPr indent="0" marL="0">
              <a:buNone/>
            </a:pP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  Automated git webhook triggers rebuild upon every push to `main` branch.</a:t>
            </a:r>
            <a:endParaRPr lang="en-US" sz="850" dirty="0"/>
          </a:p>
        </p:txBody>
      </p:sp>
      <p:sp>
        <p:nvSpPr>
          <p:cNvPr id="20" name="Shape 18"/>
          <p:cNvSpPr/>
          <p:nvPr/>
        </p:nvSpPr>
        <p:spPr>
          <a:xfrm>
            <a:off x="6217920" y="1143000"/>
            <a:ext cx="2377440" cy="3474720"/>
          </a:xfrm>
          <a:prstGeom prst="rect">
            <a:avLst/>
          </a:prstGeom>
          <a:solidFill>
            <a:srgbClr val="FFFFFF"/>
          </a:solidFill>
          <a:ln w="12700">
            <a:solidFill>
              <a:srgbClr val="E2E8F0"/>
            </a:solidFill>
            <a:prstDash val="solid"/>
          </a:ln>
        </p:spPr>
      </p:sp>
      <p:sp>
        <p:nvSpPr>
          <p:cNvPr id="21" name="Shape 19"/>
          <p:cNvSpPr/>
          <p:nvPr/>
        </p:nvSpPr>
        <p:spPr>
          <a:xfrm>
            <a:off x="6217920" y="1143000"/>
            <a:ext cx="2377440" cy="45720"/>
          </a:xfrm>
          <a:prstGeom prst="rect">
            <a:avLst/>
          </a:prstGeom>
          <a:solidFill>
            <a:srgbClr val="16A34A"/>
          </a:solidFill>
          <a:ln w="12700">
            <a:solidFill>
              <a:srgbClr val="16A34A"/>
            </a:solidFill>
            <a:prstDash val="solid"/>
          </a:ln>
        </p:spPr>
      </p:sp>
      <p:sp>
        <p:nvSpPr>
          <p:cNvPr id="22" name="Text 20"/>
          <p:cNvSpPr/>
          <p:nvPr/>
        </p:nvSpPr>
        <p:spPr>
          <a:xfrm>
            <a:off x="6355080" y="1280160"/>
            <a:ext cx="2103120" cy="201168"/>
          </a:xfrm>
          <a:prstGeom prst="rect">
            <a:avLst/>
          </a:prstGeom>
          <a:noFill/>
          <a:ln/>
        </p:spPr>
        <p:txBody>
          <a:bodyPr wrap="square" rtlCol="0" anchor="ctr"/>
          <a:lstStyle/>
          <a:p>
            <a:pPr indent="0" marL="0">
              <a:buNone/>
            </a:pPr>
            <a:r>
              <a:rPr lang="en-US" sz="1000" b="1" dirty="0">
                <a:solidFill>
                  <a:srgbClr val="16A34A"/>
                </a:solidFill>
                <a:latin typeface="Calibri" pitchFamily="34" charset="0"/>
                <a:ea typeface="Calibri" pitchFamily="34" charset="-122"/>
                <a:cs typeface="Calibri" pitchFamily="34" charset="-120"/>
              </a:rPr>
              <a:t>AUTOMATED NAP STOPPER</a:t>
            </a:r>
            <a:endParaRPr lang="en-US" sz="1000" dirty="0"/>
          </a:p>
        </p:txBody>
      </p:sp>
      <p:sp>
        <p:nvSpPr>
          <p:cNvPr id="23" name="Text 21"/>
          <p:cNvSpPr/>
          <p:nvPr/>
        </p:nvSpPr>
        <p:spPr>
          <a:xfrm>
            <a:off x="6355080" y="1481328"/>
            <a:ext cx="2103120" cy="228600"/>
          </a:xfrm>
          <a:prstGeom prst="rect">
            <a:avLst/>
          </a:prstGeom>
          <a:noFill/>
          <a:ln/>
        </p:spPr>
        <p:txBody>
          <a:bodyPr wrap="square"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Uptime Keep-Alive Service</a:t>
            </a:r>
            <a:endParaRPr lang="en-US" sz="1200" dirty="0"/>
          </a:p>
        </p:txBody>
      </p:sp>
      <p:sp>
        <p:nvSpPr>
          <p:cNvPr id="24" name="Text 22"/>
          <p:cNvSpPr/>
          <p:nvPr/>
        </p:nvSpPr>
        <p:spPr>
          <a:xfrm>
            <a:off x="6355080" y="1783080"/>
            <a:ext cx="2103120" cy="2697480"/>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  Custom REST endpoint (`/api/health`) returning server timestamp and system status.</a:t>
            </a:r>
            <a:endParaRPr lang="en-US" sz="850" dirty="0"/>
          </a:p>
          <a:p>
            <a:pPr indent="0" marL="0">
              <a:buNone/>
            </a:pP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  External cron job pings `/api/health` every 10 minutes.</a:t>
            </a:r>
            <a:endParaRPr lang="en-US" sz="850" dirty="0"/>
          </a:p>
          <a:p>
            <a:pPr indent="0" marL="0">
              <a:buNone/>
            </a:pP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  Completely eliminates Render 50-second free tier cold start delay.</a:t>
            </a:r>
            <a:endParaRPr lang="en-US" sz="850" dirty="0"/>
          </a:p>
          <a:p>
            <a:pPr indent="0" marL="0">
              <a:buNone/>
            </a:pP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  Ensures gate guards and residents experience instant sub-second response times.</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1E40AF"/>
          </a:solidFill>
          <a:ln w="12700">
            <a:solidFill>
              <a:srgbClr val="1E40AF"/>
            </a:solidFill>
            <a:prstDash val="solid"/>
          </a:ln>
        </p:spPr>
      </p:sp>
      <p:sp>
        <p:nvSpPr>
          <p:cNvPr id="3" name="Text 1"/>
          <p:cNvSpPr/>
          <p:nvPr/>
        </p:nvSpPr>
        <p:spPr>
          <a:xfrm>
            <a:off x="548640" y="219456"/>
            <a:ext cx="5486400" cy="201168"/>
          </a:xfrm>
          <a:prstGeom prst="rect">
            <a:avLst/>
          </a:prstGeom>
          <a:noFill/>
          <a:ln/>
        </p:spPr>
        <p:txBody>
          <a:bodyPr wrap="square" rtlCol="0" anchor="ctr"/>
          <a:lstStyle/>
          <a:p>
            <a:pPr indent="0" marL="0">
              <a:buNone/>
            </a:pPr>
            <a:r>
              <a:rPr lang="en-US" sz="850" b="1" dirty="0">
                <a:solidFill>
                  <a:srgbClr val="1E40AF"/>
                </a:solidFill>
                <a:latin typeface="Calibri" pitchFamily="34" charset="0"/>
                <a:ea typeface="Calibri" pitchFamily="34" charset="-122"/>
                <a:cs typeface="Calibri" pitchFamily="34" charset="-120"/>
              </a:rPr>
              <a:t>SECTION 10  |  VALIDATION &amp; ROADMAP</a:t>
            </a:r>
            <a:endParaRPr lang="en-US" sz="850" dirty="0"/>
          </a:p>
        </p:txBody>
      </p:sp>
      <p:sp>
        <p:nvSpPr>
          <p:cNvPr id="4" name="Text 2"/>
          <p:cNvSpPr/>
          <p:nvPr/>
        </p:nvSpPr>
        <p:spPr>
          <a:xfrm>
            <a:off x="548640" y="420624"/>
            <a:ext cx="8046720" cy="347472"/>
          </a:xfrm>
          <a:prstGeom prst="rect">
            <a:avLst/>
          </a:prstGeom>
          <a:noFill/>
          <a:ln/>
        </p:spPr>
        <p:txBody>
          <a:bodyPr wrap="square" rtlCol="0" anchor="ctr"/>
          <a:lstStyle/>
          <a:p>
            <a:pPr indent="0" marL="0">
              <a:buNone/>
            </a:pPr>
            <a:r>
              <a:rPr lang="en-US" sz="1800" b="1" dirty="0">
                <a:solidFill>
                  <a:srgbClr val="0F2942"/>
                </a:solidFill>
                <a:latin typeface="Calibri" pitchFamily="34" charset="0"/>
                <a:ea typeface="Calibri" pitchFamily="34" charset="-122"/>
                <a:cs typeface="Calibri" pitchFamily="34" charset="-120"/>
              </a:rPr>
              <a:t>System Testing, Benchmarks &amp; Future Roadmap</a:t>
            </a:r>
            <a:endParaRPr lang="en-US" sz="1800" dirty="0"/>
          </a:p>
        </p:txBody>
      </p:sp>
      <p:sp>
        <p:nvSpPr>
          <p:cNvPr id="5" name="Text 3"/>
          <p:cNvSpPr/>
          <p:nvPr/>
        </p:nvSpPr>
        <p:spPr>
          <a:xfrm>
            <a:off x="548640" y="768096"/>
            <a:ext cx="8046720" cy="201168"/>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Rigorous End-to-End Validation and Upcoming Engineering Enhancements</a:t>
            </a:r>
            <a:endParaRPr lang="en-US" sz="950" dirty="0"/>
          </a:p>
        </p:txBody>
      </p:sp>
      <p:sp>
        <p:nvSpPr>
          <p:cNvPr id="6" name="Shape 4"/>
          <p:cNvSpPr/>
          <p:nvPr/>
        </p:nvSpPr>
        <p:spPr>
          <a:xfrm>
            <a:off x="548640" y="1005840"/>
            <a:ext cx="8046720" cy="9144"/>
          </a:xfrm>
          <a:prstGeom prst="rect">
            <a:avLst/>
          </a:prstGeom>
          <a:solidFill>
            <a:srgbClr val="E2E8F0"/>
          </a:solidFill>
          <a:ln w="12700">
            <a:solidFill>
              <a:srgbClr val="E2E8F0"/>
            </a:solidFill>
            <a:prstDash val="solid"/>
          </a:ln>
        </p:spPr>
      </p:sp>
      <p:sp>
        <p:nvSpPr>
          <p:cNvPr id="7" name="Shape 5"/>
          <p:cNvSpPr/>
          <p:nvPr/>
        </p:nvSpPr>
        <p:spPr>
          <a:xfrm>
            <a:off x="548640" y="4754880"/>
            <a:ext cx="8046720" cy="9144"/>
          </a:xfrm>
          <a:prstGeom prst="rect">
            <a:avLst/>
          </a:prstGeom>
          <a:solidFill>
            <a:srgbClr val="E2E8F0"/>
          </a:solidFill>
          <a:ln w="12700">
            <a:solidFill>
              <a:srgbClr val="E2E8F0"/>
            </a:solidFill>
            <a:prstDash val="solid"/>
          </a:ln>
        </p:spPr>
      </p:sp>
      <p:sp>
        <p:nvSpPr>
          <p:cNvPr id="8" name="Text 6"/>
          <p:cNvSpPr/>
          <p:nvPr/>
        </p:nvSpPr>
        <p:spPr>
          <a:xfrm>
            <a:off x="548640" y="4800600"/>
            <a:ext cx="5943600" cy="201168"/>
          </a:xfrm>
          <a:prstGeom prst="rect">
            <a:avLst/>
          </a:prstGeom>
          <a:noFill/>
          <a:ln/>
        </p:spPr>
        <p:txBody>
          <a:bodyPr wrap="square" rtlCol="0" anchor="ctr"/>
          <a:lstStyle/>
          <a:p>
            <a:pPr indent="0" marL="0">
              <a:buNone/>
            </a:pPr>
            <a:r>
              <a:rPr lang="en-US" sz="850" dirty="0">
                <a:solidFill>
                  <a:srgbClr val="64748B"/>
                </a:solidFill>
                <a:latin typeface="Calibri" pitchFamily="34" charset="0"/>
                <a:ea typeface="Calibri" pitchFamily="34" charset="-122"/>
                <a:cs typeface="Calibri" pitchFamily="34" charset="-120"/>
              </a:rPr>
              <a:t>GateSync — Smart Society Security System  |  Arpitsinh Thakor (23SE02IE040)</a:t>
            </a:r>
            <a:endParaRPr lang="en-US" sz="850" dirty="0"/>
          </a:p>
        </p:txBody>
      </p:sp>
      <p:sp>
        <p:nvSpPr>
          <p:cNvPr id="9" name="Text 7"/>
          <p:cNvSpPr/>
          <p:nvPr/>
        </p:nvSpPr>
        <p:spPr>
          <a:xfrm>
            <a:off x="6583680" y="4800600"/>
            <a:ext cx="2011680" cy="201168"/>
          </a:xfrm>
          <a:prstGeom prst="rect">
            <a:avLst/>
          </a:prstGeom>
          <a:noFill/>
          <a:ln/>
        </p:spPr>
        <p:txBody>
          <a:bodyPr wrap="square" rtlCol="0" anchor="ctr"/>
          <a:lstStyle/>
          <a:p>
            <a:pPr algn="r" indent="0" marL="0">
              <a:buNone/>
            </a:pPr>
            <a:r>
              <a:rPr lang="en-US" sz="850" b="1" dirty="0">
                <a:solidFill>
                  <a:srgbClr val="1E40AF"/>
                </a:solidFill>
                <a:latin typeface="Calibri" pitchFamily="34" charset="0"/>
                <a:ea typeface="Calibri" pitchFamily="34" charset="-122"/>
                <a:cs typeface="Calibri" pitchFamily="34" charset="-120"/>
              </a:rPr>
              <a:t>SCHOOL OF ENGINEERING  •  SLIDE 11 / 12</a:t>
            </a:r>
            <a:endParaRPr lang="en-US" sz="850" dirty="0"/>
          </a:p>
        </p:txBody>
      </p:sp>
      <p:sp>
        <p:nvSpPr>
          <p:cNvPr id="10" name="Shape 8"/>
          <p:cNvSpPr/>
          <p:nvPr/>
        </p:nvSpPr>
        <p:spPr>
          <a:xfrm>
            <a:off x="548640" y="1143000"/>
            <a:ext cx="3886200" cy="3474720"/>
          </a:xfrm>
          <a:prstGeom prst="rect">
            <a:avLst/>
          </a:prstGeom>
          <a:solidFill>
            <a:srgbClr val="FFFFFF"/>
          </a:solidFill>
          <a:ln w="12700">
            <a:solidFill>
              <a:srgbClr val="E2E8F0"/>
            </a:solidFill>
            <a:prstDash val="solid"/>
          </a:ln>
        </p:spPr>
      </p:sp>
      <p:sp>
        <p:nvSpPr>
          <p:cNvPr id="11" name="Shape 9"/>
          <p:cNvSpPr/>
          <p:nvPr/>
        </p:nvSpPr>
        <p:spPr>
          <a:xfrm>
            <a:off x="548640" y="1143000"/>
            <a:ext cx="73152" cy="3474720"/>
          </a:xfrm>
          <a:prstGeom prst="rect">
            <a:avLst/>
          </a:prstGeom>
          <a:solidFill>
            <a:srgbClr val="1E40AF"/>
          </a:solidFill>
          <a:ln w="12700">
            <a:solidFill>
              <a:srgbClr val="1E40AF"/>
            </a:solidFill>
            <a:prstDash val="solid"/>
          </a:ln>
        </p:spPr>
      </p:sp>
      <p:sp>
        <p:nvSpPr>
          <p:cNvPr id="12" name="Text 10"/>
          <p:cNvSpPr/>
          <p:nvPr/>
        </p:nvSpPr>
        <p:spPr>
          <a:xfrm>
            <a:off x="777240" y="1280160"/>
            <a:ext cx="3520440" cy="256032"/>
          </a:xfrm>
          <a:prstGeom prst="rect">
            <a:avLst/>
          </a:prstGeom>
          <a:noFill/>
          <a:ln/>
        </p:spPr>
        <p:txBody>
          <a:bodyPr wrap="square" rtlCol="0" anchor="ctr"/>
          <a:lstStyle/>
          <a:p>
            <a:pPr indent="0" marL="0">
              <a:buNone/>
            </a:pPr>
            <a:r>
              <a:rPr lang="en-US" sz="1100" b="1" dirty="0">
                <a:solidFill>
                  <a:srgbClr val="1E40AF"/>
                </a:solidFill>
                <a:latin typeface="Calibri" pitchFamily="34" charset="0"/>
                <a:ea typeface="Calibri" pitchFamily="34" charset="-122"/>
                <a:cs typeface="Calibri" pitchFamily="34" charset="-120"/>
              </a:rPr>
              <a:t>EMPIRICAL PERFORMANCE BENCHMARKS</a:t>
            </a:r>
            <a:endParaRPr lang="en-US" sz="1100" dirty="0"/>
          </a:p>
        </p:txBody>
      </p:sp>
      <p:sp>
        <p:nvSpPr>
          <p:cNvPr id="13" name="Text 11"/>
          <p:cNvSpPr/>
          <p:nvPr/>
        </p:nvSpPr>
        <p:spPr>
          <a:xfrm>
            <a:off x="777240" y="1600200"/>
            <a:ext cx="3520440" cy="2880360"/>
          </a:xfrm>
          <a:prstGeom prst="rect">
            <a:avLst/>
          </a:prstGeom>
          <a:noFill/>
          <a:ln/>
        </p:spPr>
        <p:txBody>
          <a:bodyPr wrap="square" rtlCol="0" anchor="ctr"/>
          <a:lstStyle/>
          <a:p>
            <a:pPr indent="0" marL="0">
              <a:buNone/>
            </a:pPr>
            <a:r>
              <a:rPr lang="en-US" sz="850" b="1" dirty="0">
                <a:solidFill>
                  <a:srgbClr val="1E40AF"/>
                </a:solidFill>
                <a:latin typeface="Calibri" pitchFamily="34" charset="0"/>
                <a:ea typeface="Calibri" pitchFamily="34" charset="-122"/>
                <a:cs typeface="Calibri" pitchFamily="34" charset="-120"/>
              </a:rPr>
              <a:t>&lt; 150 ms  —  WebSocket Alert Latency
</a:t>
            </a:r>
            <a:pPr indent="0" marL="0">
              <a:buNone/>
            </a:pPr>
            <a:r>
              <a:rPr lang="en-US" sz="850" dirty="0">
                <a:solidFill>
                  <a:srgbClr val="334155"/>
                </a:solidFill>
                <a:latin typeface="Calibri" pitchFamily="34" charset="0"/>
                <a:ea typeface="Calibri" pitchFamily="34" charset="-122"/>
                <a:cs typeface="Calibri" pitchFamily="34" charset="-120"/>
              </a:rPr>
              <a:t>From guard submission to resident screen popup under 50 concurrent active connections.
</a:t>
            </a:r>
            <a:pPr indent="0" marL="0">
              <a:buNone/>
            </a:pPr>
            <a:r>
              <a:rPr lang="en-US" sz="850" b="1" dirty="0">
                <a:solidFill>
                  <a:srgbClr val="1E40AF"/>
                </a:solidFill>
                <a:latin typeface="Calibri" pitchFamily="34" charset="0"/>
                <a:ea typeface="Calibri" pitchFamily="34" charset="-122"/>
                <a:cs typeface="Calibri" pitchFamily="34" charset="-120"/>
              </a:rPr>
              <a:t>&lt; 10 sec  —  Visitor Registration Intake
</a:t>
            </a:r>
            <a:pPr indent="0" marL="0">
              <a:buNone/>
            </a:pPr>
            <a:r>
              <a:rPr lang="en-US" sz="850" dirty="0">
                <a:solidFill>
                  <a:srgbClr val="334155"/>
                </a:solidFill>
                <a:latin typeface="Calibri" pitchFamily="34" charset="0"/>
                <a:ea typeface="Calibri" pitchFamily="34" charset="-122"/>
                <a:cs typeface="Calibri" pitchFamily="34" charset="-120"/>
              </a:rPr>
              <a:t>Reduced from 2–4 minutes on paper registers down to under 10 seconds at the gate cabin.
</a:t>
            </a:r>
            <a:pPr indent="0" marL="0">
              <a:buNone/>
            </a:pPr>
            <a:r>
              <a:rPr lang="en-US" sz="850" b="1" dirty="0">
                <a:solidFill>
                  <a:srgbClr val="1E40AF"/>
                </a:solidFill>
                <a:latin typeface="Calibri" pitchFamily="34" charset="0"/>
                <a:ea typeface="Calibri" pitchFamily="34" charset="-122"/>
                <a:cs typeface="Calibri" pitchFamily="34" charset="-120"/>
              </a:rPr>
              <a:t>100 %  —  Role-Based Access Enforcement
</a:t>
            </a:r>
            <a:pPr indent="0" marL="0">
              <a:buNone/>
            </a:pPr>
            <a:r>
              <a:rPr lang="en-US" sz="850" dirty="0">
                <a:solidFill>
                  <a:srgbClr val="334155"/>
                </a:solidFill>
                <a:latin typeface="Calibri" pitchFamily="34" charset="0"/>
                <a:ea typeface="Calibri" pitchFamily="34" charset="-122"/>
                <a:cs typeface="Calibri" pitchFamily="34" charset="-120"/>
              </a:rPr>
              <a:t>Zero cross-role privilege leakage across 48 automated test suites verifying API boundaries.
</a:t>
            </a:r>
            <a:pPr indent="0" marL="0">
              <a:buNone/>
            </a:pPr>
            <a:r>
              <a:rPr lang="en-US" sz="850" b="1" dirty="0">
                <a:solidFill>
                  <a:srgbClr val="1E40AF"/>
                </a:solidFill>
                <a:latin typeface="Calibri" pitchFamily="34" charset="0"/>
                <a:ea typeface="Calibri" pitchFamily="34" charset="-122"/>
                <a:cs typeface="Calibri" pitchFamily="34" charset="-120"/>
              </a:rPr>
              <a:t>99.8 %  —  Cloud System Uptime
</a:t>
            </a:r>
            <a:pPr indent="0" marL="0">
              <a:buNone/>
            </a:pPr>
            <a:r>
              <a:rPr lang="en-US" sz="850" dirty="0">
                <a:solidFill>
                  <a:srgbClr val="334155"/>
                </a:solidFill>
                <a:latin typeface="Calibri" pitchFamily="34" charset="0"/>
                <a:ea typeface="Calibri" pitchFamily="34" charset="-122"/>
                <a:cs typeface="Calibri" pitchFamily="34" charset="-120"/>
              </a:rPr>
              <a:t>Maintained across continuous demonstration through the `/api/health` automated keep-alive system.</a:t>
            </a:r>
            <a:endParaRPr lang="en-US" sz="850" dirty="0"/>
          </a:p>
        </p:txBody>
      </p:sp>
      <p:sp>
        <p:nvSpPr>
          <p:cNvPr id="14" name="Shape 12"/>
          <p:cNvSpPr/>
          <p:nvPr/>
        </p:nvSpPr>
        <p:spPr>
          <a:xfrm>
            <a:off x="4709160" y="1143000"/>
            <a:ext cx="3886200" cy="3474720"/>
          </a:xfrm>
          <a:prstGeom prst="rect">
            <a:avLst/>
          </a:prstGeom>
          <a:solidFill>
            <a:srgbClr val="FFFFFF"/>
          </a:solidFill>
          <a:ln w="12700">
            <a:solidFill>
              <a:srgbClr val="E2E8F0"/>
            </a:solidFill>
            <a:prstDash val="solid"/>
          </a:ln>
        </p:spPr>
      </p:sp>
      <p:sp>
        <p:nvSpPr>
          <p:cNvPr id="15" name="Shape 13"/>
          <p:cNvSpPr/>
          <p:nvPr/>
        </p:nvSpPr>
        <p:spPr>
          <a:xfrm>
            <a:off x="4709160" y="1143000"/>
            <a:ext cx="73152" cy="3474720"/>
          </a:xfrm>
          <a:prstGeom prst="rect">
            <a:avLst/>
          </a:prstGeom>
          <a:solidFill>
            <a:srgbClr val="16A34A"/>
          </a:solidFill>
          <a:ln w="12700">
            <a:solidFill>
              <a:srgbClr val="16A34A"/>
            </a:solidFill>
            <a:prstDash val="solid"/>
          </a:ln>
        </p:spPr>
      </p:sp>
      <p:sp>
        <p:nvSpPr>
          <p:cNvPr id="16" name="Text 14"/>
          <p:cNvSpPr/>
          <p:nvPr/>
        </p:nvSpPr>
        <p:spPr>
          <a:xfrm>
            <a:off x="4937760" y="1280160"/>
            <a:ext cx="3520440" cy="256032"/>
          </a:xfrm>
          <a:prstGeom prst="rect">
            <a:avLst/>
          </a:prstGeom>
          <a:noFill/>
          <a:ln/>
        </p:spPr>
        <p:txBody>
          <a:bodyPr wrap="square" rtlCol="0" anchor="ctr"/>
          <a:lstStyle/>
          <a:p>
            <a:pPr indent="0" marL="0">
              <a:buNone/>
            </a:pPr>
            <a:r>
              <a:rPr lang="en-US" sz="1100" b="1" dirty="0">
                <a:solidFill>
                  <a:srgbClr val="16A34A"/>
                </a:solidFill>
                <a:latin typeface="Calibri" pitchFamily="34" charset="0"/>
                <a:ea typeface="Calibri" pitchFamily="34" charset="-122"/>
                <a:cs typeface="Calibri" pitchFamily="34" charset="-120"/>
              </a:rPr>
              <a:t>FUTURE ENGINEERING ROADMAP</a:t>
            </a:r>
            <a:endParaRPr lang="en-US" sz="1100" dirty="0"/>
          </a:p>
        </p:txBody>
      </p:sp>
      <p:sp>
        <p:nvSpPr>
          <p:cNvPr id="17" name="Text 15"/>
          <p:cNvSpPr/>
          <p:nvPr/>
        </p:nvSpPr>
        <p:spPr>
          <a:xfrm>
            <a:off x="4937760" y="1600200"/>
            <a:ext cx="3520440" cy="2880360"/>
          </a:xfrm>
          <a:prstGeom prst="rect">
            <a:avLst/>
          </a:prstGeom>
          <a:noFill/>
          <a:ln/>
        </p:spPr>
        <p:txBody>
          <a:bodyPr wrap="square" rtlCol="0" anchor="ctr"/>
          <a:lstStyle/>
          <a:p>
            <a:pPr indent="0" marL="0">
              <a:buNone/>
            </a:pPr>
            <a:r>
              <a:rPr lang="en-US" sz="850" b="1" dirty="0">
                <a:solidFill>
                  <a:srgbClr val="0F172A"/>
                </a:solidFill>
                <a:latin typeface="Calibri" pitchFamily="34" charset="0"/>
                <a:ea typeface="Calibri" pitchFamily="34" charset="-122"/>
                <a:cs typeface="Calibri" pitchFamily="34" charset="-120"/>
              </a:rPr>
              <a:t>•  ANPR Automated License Plate Recognition
</a:t>
            </a:r>
            <a:pPr indent="0" marL="0">
              <a:buNone/>
            </a:pPr>
            <a:r>
              <a:rPr lang="en-US" sz="850" dirty="0">
                <a:solidFill>
                  <a:srgbClr val="334155"/>
                </a:solidFill>
                <a:latin typeface="Calibri" pitchFamily="34" charset="0"/>
                <a:ea typeface="Calibri" pitchFamily="34" charset="-122"/>
                <a:cs typeface="Calibri" pitchFamily="34" charset="-120"/>
              </a:rPr>
              <a:t>Deploy edge camera models to automatically read vehicle number plates and open boom barriers for authorized resident vehicles.
</a:t>
            </a:r>
            <a:pPr indent="0" marL="0">
              <a:buNone/>
            </a:pPr>
            <a:r>
              <a:rPr lang="en-US" sz="850" b="1" dirty="0">
                <a:solidFill>
                  <a:srgbClr val="0F172A"/>
                </a:solidFill>
                <a:latin typeface="Calibri" pitchFamily="34" charset="0"/>
                <a:ea typeface="Calibri" pitchFamily="34" charset="-122"/>
                <a:cs typeface="Calibri" pitchFamily="34" charset="-120"/>
              </a:rPr>
              <a:t>•  RFID Boom Barrier Hardware Integration
</a:t>
            </a:r>
            <a:pPr indent="0" marL="0">
              <a:buNone/>
            </a:pPr>
            <a:r>
              <a:rPr lang="en-US" sz="850" dirty="0">
                <a:solidFill>
                  <a:srgbClr val="334155"/>
                </a:solidFill>
                <a:latin typeface="Calibri" pitchFamily="34" charset="0"/>
                <a:ea typeface="Calibri" pitchFamily="34" charset="-122"/>
                <a:cs typeface="Calibri" pitchFamily="34" charset="-120"/>
              </a:rPr>
              <a:t>Integrate physical microcontroller relays (ESP32/Raspberry Pi) for RFID tag automated boom barrier actuation.
</a:t>
            </a:r>
            <a:pPr indent="0" marL="0">
              <a:buNone/>
            </a:pPr>
            <a:r>
              <a:rPr lang="en-US" sz="850" b="1" dirty="0">
                <a:solidFill>
                  <a:srgbClr val="0F172A"/>
                </a:solidFill>
                <a:latin typeface="Calibri" pitchFamily="34" charset="0"/>
                <a:ea typeface="Calibri" pitchFamily="34" charset="-122"/>
                <a:cs typeface="Calibri" pitchFamily="34" charset="-120"/>
              </a:rPr>
              <a:t>•  AI Facial Recognition for Domestic Staff
</a:t>
            </a:r>
            <a:pPr indent="0" marL="0">
              <a:buNone/>
            </a:pPr>
            <a:r>
              <a:rPr lang="en-US" sz="850" dirty="0">
                <a:solidFill>
                  <a:srgbClr val="334155"/>
                </a:solidFill>
                <a:latin typeface="Calibri" pitchFamily="34" charset="0"/>
                <a:ea typeface="Calibri" pitchFamily="34" charset="-122"/>
                <a:cs typeface="Calibri" pitchFamily="34" charset="-120"/>
              </a:rPr>
              <a:t>Provide seamless biometric gate entry for recurring service personnel (maids, drivers, gardeners) without guard intervention.
</a:t>
            </a:r>
            <a:pPr indent="0" marL="0">
              <a:buNone/>
            </a:pPr>
            <a:r>
              <a:rPr lang="en-US" sz="850" b="1" dirty="0">
                <a:solidFill>
                  <a:srgbClr val="0F172A"/>
                </a:solidFill>
                <a:latin typeface="Calibri" pitchFamily="34" charset="0"/>
                <a:ea typeface="Calibri" pitchFamily="34" charset="-122"/>
                <a:cs typeface="Calibri" pitchFamily="34" charset="-120"/>
              </a:rPr>
              <a:t>•  Multi-Society SaaS Architecture
</a:t>
            </a:r>
            <a:pPr indent="0" marL="0">
              <a:buNone/>
            </a:pPr>
            <a:r>
              <a:rPr lang="en-US" sz="850" dirty="0">
                <a:solidFill>
                  <a:srgbClr val="334155"/>
                </a:solidFill>
                <a:latin typeface="Calibri" pitchFamily="34" charset="0"/>
                <a:ea typeface="Calibri" pitchFamily="34" charset="-122"/>
                <a:cs typeface="Calibri" pitchFamily="34" charset="-120"/>
              </a:rPr>
              <a:t>Extend database schemas to support multi-tenant isolation, allowing multiple residential complexes to share a centralized cluster.</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40AF"/>
          </a:solidFill>
          <a:ln w="12700">
            <a:solidFill>
              <a:srgbClr val="1E40AF"/>
            </a:solidFill>
            <a:prstDash val="solid"/>
          </a:ln>
        </p:spPr>
      </p:sp>
      <p:sp>
        <p:nvSpPr>
          <p:cNvPr id="3" name="Text 1"/>
          <p:cNvSpPr/>
          <p:nvPr/>
        </p:nvSpPr>
        <p:spPr>
          <a:xfrm>
            <a:off x="548640" y="320040"/>
            <a:ext cx="8046720" cy="502920"/>
          </a:xfrm>
          <a:prstGeom prst="rect">
            <a:avLst/>
          </a:prstGeom>
          <a:noFill/>
          <a:ln/>
        </p:spPr>
        <p:txBody>
          <a:bodyPr wrap="square" rtlCol="0" anchor="ctr"/>
          <a:lstStyle/>
          <a:p>
            <a:pPr indent="0" marL="0">
              <a:buNone/>
            </a:pPr>
            <a:r>
              <a:rPr lang="en-US" sz="3200" b="1" dirty="0">
                <a:solidFill>
                  <a:srgbClr val="0F2942"/>
                </a:solidFill>
                <a:latin typeface="Calibri" pitchFamily="34" charset="0"/>
                <a:ea typeface="Calibri" pitchFamily="34" charset="-122"/>
                <a:cs typeface="Calibri" pitchFamily="34" charset="-120"/>
              </a:rPr>
              <a:t>CONCLUSION &amp; THANK YOU</a:t>
            </a:r>
            <a:endParaRPr lang="en-US" sz="3200" dirty="0"/>
          </a:p>
        </p:txBody>
      </p:sp>
      <p:sp>
        <p:nvSpPr>
          <p:cNvPr id="4" name="Text 2"/>
          <p:cNvSpPr/>
          <p:nvPr/>
        </p:nvSpPr>
        <p:spPr>
          <a:xfrm>
            <a:off x="548640" y="804672"/>
            <a:ext cx="8046720" cy="256032"/>
          </a:xfrm>
          <a:prstGeom prst="rect">
            <a:avLst/>
          </a:prstGeom>
          <a:noFill/>
          <a:ln/>
        </p:spPr>
        <p:txBody>
          <a:bodyPr wrap="square"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GateSync — Redefining Modern Residential Security &amp; Community Management</a:t>
            </a:r>
            <a:endParaRPr lang="en-US" sz="1300" dirty="0"/>
          </a:p>
        </p:txBody>
      </p:sp>
      <p:sp>
        <p:nvSpPr>
          <p:cNvPr id="5" name="Shape 3"/>
          <p:cNvSpPr/>
          <p:nvPr/>
        </p:nvSpPr>
        <p:spPr>
          <a:xfrm>
            <a:off x="548640" y="1143000"/>
            <a:ext cx="8046720" cy="685800"/>
          </a:xfrm>
          <a:prstGeom prst="rect">
            <a:avLst/>
          </a:prstGeom>
          <a:solidFill>
            <a:srgbClr val="FFFFFF"/>
          </a:solidFill>
          <a:ln w="12700">
            <a:solidFill>
              <a:srgbClr val="E2E8F0"/>
            </a:solidFill>
            <a:prstDash val="solid"/>
          </a:ln>
        </p:spPr>
      </p:sp>
      <p:sp>
        <p:nvSpPr>
          <p:cNvPr id="6" name="Shape 4"/>
          <p:cNvSpPr/>
          <p:nvPr/>
        </p:nvSpPr>
        <p:spPr>
          <a:xfrm>
            <a:off x="548640" y="1143000"/>
            <a:ext cx="73152" cy="685800"/>
          </a:xfrm>
          <a:prstGeom prst="rect">
            <a:avLst/>
          </a:prstGeom>
          <a:solidFill>
            <a:srgbClr val="1E40AF"/>
          </a:solidFill>
          <a:ln w="12700">
            <a:solidFill>
              <a:srgbClr val="1E40AF"/>
            </a:solidFill>
            <a:prstDash val="solid"/>
          </a:ln>
        </p:spPr>
      </p:sp>
      <p:sp>
        <p:nvSpPr>
          <p:cNvPr id="7" name="Text 5"/>
          <p:cNvSpPr/>
          <p:nvPr/>
        </p:nvSpPr>
        <p:spPr>
          <a:xfrm>
            <a:off x="777240" y="1234440"/>
            <a:ext cx="7589520" cy="182880"/>
          </a:xfrm>
          <a:prstGeom prst="rect">
            <a:avLst/>
          </a:prstGeom>
          <a:noFill/>
          <a:ln/>
        </p:spPr>
        <p:txBody>
          <a:bodyPr wrap="square" rtlCol="0" anchor="ctr"/>
          <a:lstStyle/>
          <a:p>
            <a:pPr indent="0" marL="0">
              <a:buNone/>
            </a:pPr>
            <a:r>
              <a:rPr lang="en-US" sz="950" b="1" dirty="0">
                <a:solidFill>
                  <a:srgbClr val="0F2942"/>
                </a:solidFill>
                <a:latin typeface="Calibri" pitchFamily="34" charset="0"/>
                <a:ea typeface="Calibri" pitchFamily="34" charset="-122"/>
                <a:cs typeface="Calibri" pitchFamily="34" charset="-120"/>
              </a:rPr>
              <a:t>PROJECT SUMMARY &amp; CORE IMPACT</a:t>
            </a:r>
            <a:endParaRPr lang="en-US" sz="950" dirty="0"/>
          </a:p>
        </p:txBody>
      </p:sp>
      <p:sp>
        <p:nvSpPr>
          <p:cNvPr id="8" name="Text 6"/>
          <p:cNvSpPr/>
          <p:nvPr/>
        </p:nvSpPr>
        <p:spPr>
          <a:xfrm>
            <a:off x="777240" y="1444752"/>
            <a:ext cx="7589520" cy="320040"/>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GateSync proves that a fully digital, real-time security management platform eliminates manual register bottlenecks, secures resident phone privacy, and accelerates visitor verification to under 2 seconds using enterprise Java &amp; React architecture.</a:t>
            </a:r>
            <a:endParaRPr lang="en-US" sz="900" dirty="0"/>
          </a:p>
        </p:txBody>
      </p:sp>
      <p:sp>
        <p:nvSpPr>
          <p:cNvPr id="9" name="Shape 7"/>
          <p:cNvSpPr/>
          <p:nvPr/>
        </p:nvSpPr>
        <p:spPr>
          <a:xfrm>
            <a:off x="548640" y="1965960"/>
            <a:ext cx="8046720" cy="1234440"/>
          </a:xfrm>
          <a:prstGeom prst="rect">
            <a:avLst/>
          </a:prstGeom>
          <a:solidFill>
            <a:srgbClr val="FFFFFF"/>
          </a:solidFill>
          <a:ln w="12700">
            <a:solidFill>
              <a:srgbClr val="E2E8F0"/>
            </a:solidFill>
            <a:prstDash val="solid"/>
          </a:ln>
        </p:spPr>
      </p:sp>
      <p:sp>
        <p:nvSpPr>
          <p:cNvPr id="10" name="Shape 8"/>
          <p:cNvSpPr/>
          <p:nvPr/>
        </p:nvSpPr>
        <p:spPr>
          <a:xfrm>
            <a:off x="548640" y="1965960"/>
            <a:ext cx="73152" cy="1234440"/>
          </a:xfrm>
          <a:prstGeom prst="rect">
            <a:avLst/>
          </a:prstGeom>
          <a:solidFill>
            <a:srgbClr val="16A34A"/>
          </a:solidFill>
          <a:ln w="12700">
            <a:solidFill>
              <a:srgbClr val="16A34A"/>
            </a:solidFill>
            <a:prstDash val="solid"/>
          </a:ln>
        </p:spPr>
      </p:sp>
      <p:sp>
        <p:nvSpPr>
          <p:cNvPr id="11" name="Text 9"/>
          <p:cNvSpPr/>
          <p:nvPr/>
        </p:nvSpPr>
        <p:spPr>
          <a:xfrm>
            <a:off x="777240" y="2057400"/>
            <a:ext cx="7589520" cy="182880"/>
          </a:xfrm>
          <a:prstGeom prst="rect">
            <a:avLst/>
          </a:prstGeom>
          <a:noFill/>
          <a:ln/>
        </p:spPr>
        <p:txBody>
          <a:bodyPr wrap="square" rtlCol="0" anchor="ctr"/>
          <a:lstStyle/>
          <a:p>
            <a:pPr indent="0" marL="0">
              <a:buNone/>
            </a:pPr>
            <a:r>
              <a:rPr lang="en-US" sz="950" b="1" dirty="0">
                <a:solidFill>
                  <a:srgbClr val="16A34A"/>
                </a:solidFill>
                <a:latin typeface="Calibri" pitchFamily="34" charset="0"/>
                <a:ea typeface="Calibri" pitchFamily="34" charset="-122"/>
                <a:cs typeface="Calibri" pitchFamily="34" charset="-120"/>
              </a:rPr>
              <a:t>LIVE PROJECT DEPLOYMENTS &amp; REPOSITORIES</a:t>
            </a:r>
            <a:endParaRPr lang="en-US" sz="950" dirty="0"/>
          </a:p>
        </p:txBody>
      </p:sp>
      <p:sp>
        <p:nvSpPr>
          <p:cNvPr id="12" name="Text 10"/>
          <p:cNvSpPr/>
          <p:nvPr/>
        </p:nvSpPr>
        <p:spPr>
          <a:xfrm>
            <a:off x="777240" y="2286000"/>
            <a:ext cx="7589520" cy="868680"/>
          </a:xfrm>
          <a:prstGeom prst="rect">
            <a:avLst/>
          </a:prstGeom>
          <a:noFill/>
          <a:ln/>
        </p:spPr>
        <p:txBody>
          <a:bodyPr wrap="square" rtlCol="0" anchor="ctr"/>
          <a:lstStyle/>
          <a:p>
            <a:pPr indent="0" marL="0">
              <a:buNone/>
            </a:pPr>
            <a:r>
              <a:rPr lang="en-US" sz="850" b="1" dirty="0">
                <a:solidFill>
                  <a:srgbClr val="0F172A"/>
                </a:solidFill>
                <a:latin typeface="Calibri" pitchFamily="34" charset="0"/>
                <a:ea typeface="Calibri" pitchFamily="34" charset="-122"/>
                <a:cs typeface="Calibri" pitchFamily="34" charset="-120"/>
              </a:rPr>
              <a:t>•  Live Web Application (PWA):  </a:t>
            </a:r>
            <a:pPr indent="0" marL="0">
              <a:buNone/>
            </a:pPr>
            <a:r>
              <a:rPr lang="en-US" sz="850" dirty="0">
                <a:solidFill>
                  <a:srgbClr val="1E40AF"/>
                </a:solidFill>
                <a:latin typeface="Calibri" pitchFamily="34" charset="0"/>
                <a:ea typeface="Calibri" pitchFamily="34" charset="-122"/>
                <a:cs typeface="Calibri" pitchFamily="34" charset="-120"/>
              </a:rPr>
              <a:t>https://arpitthakor28.github.io/sms1/  (Responsive mobile &amp; desktop app)
</a:t>
            </a:r>
            <a:pPr indent="0" marL="0">
              <a:buNone/>
            </a:pPr>
            <a:r>
              <a:rPr lang="en-US" sz="850" b="1" dirty="0">
                <a:solidFill>
                  <a:srgbClr val="0F172A"/>
                </a:solidFill>
                <a:latin typeface="Calibri" pitchFamily="34" charset="0"/>
                <a:ea typeface="Calibri" pitchFamily="34" charset="-122"/>
                <a:cs typeface="Calibri" pitchFamily="34" charset="-120"/>
              </a:rPr>
              <a:t>•  Live Cloud Backend API:  </a:t>
            </a:r>
            <a:pPr indent="0" marL="0">
              <a:buNone/>
            </a:pPr>
            <a:r>
              <a:rPr lang="en-US" sz="850" dirty="0">
                <a:solidFill>
                  <a:srgbClr val="1E40AF"/>
                </a:solidFill>
                <a:latin typeface="Calibri" pitchFamily="34" charset="0"/>
                <a:ea typeface="Calibri" pitchFamily="34" charset="-122"/>
                <a:cs typeface="Calibri" pitchFamily="34" charset="-120"/>
              </a:rPr>
              <a:t>https://sms1-c9sj.onrender.com  (Spring Boot 3 + Java 21 container on Render)
</a:t>
            </a:r>
            <a:pPr indent="0" marL="0">
              <a:buNone/>
            </a:pPr>
            <a:r>
              <a:rPr lang="en-US" sz="850" b="1" dirty="0">
                <a:solidFill>
                  <a:srgbClr val="0F172A"/>
                </a:solidFill>
                <a:latin typeface="Calibri" pitchFamily="34" charset="0"/>
                <a:ea typeface="Calibri" pitchFamily="34" charset="-122"/>
                <a:cs typeface="Calibri" pitchFamily="34" charset="-120"/>
              </a:rPr>
              <a:t>•  Continuous Health Monitor:  </a:t>
            </a:r>
            <a:pPr indent="0" marL="0">
              <a:buNone/>
            </a:pPr>
            <a:r>
              <a:rPr lang="en-US" sz="850" dirty="0">
                <a:solidFill>
                  <a:srgbClr val="1E40AF"/>
                </a:solidFill>
                <a:latin typeface="Calibri" pitchFamily="34" charset="0"/>
                <a:ea typeface="Calibri" pitchFamily="34" charset="-122"/>
                <a:cs typeface="Calibri" pitchFamily="34" charset="-120"/>
              </a:rPr>
              <a:t>https://sms1-c9sj.onrender.com/api/health  (Nap Stopper Uptime Endpoint)
</a:t>
            </a:r>
            <a:pPr indent="0" marL="0">
              <a:buNone/>
            </a:pPr>
            <a:r>
              <a:rPr lang="en-US" sz="850" b="1" dirty="0">
                <a:solidFill>
                  <a:srgbClr val="0F172A"/>
                </a:solidFill>
                <a:latin typeface="Calibri" pitchFamily="34" charset="0"/>
                <a:ea typeface="Calibri" pitchFamily="34" charset="-122"/>
                <a:cs typeface="Calibri" pitchFamily="34" charset="-120"/>
              </a:rPr>
              <a:t>•  GitHub Source Code Repository:  </a:t>
            </a:r>
            <a:pPr indent="0" marL="0">
              <a:buNone/>
            </a:pPr>
            <a:r>
              <a:rPr lang="en-US" sz="850" dirty="0">
                <a:solidFill>
                  <a:srgbClr val="1E40AF"/>
                </a:solidFill>
                <a:latin typeface="Calibri" pitchFamily="34" charset="0"/>
                <a:ea typeface="Calibri" pitchFamily="34" charset="-122"/>
                <a:cs typeface="Calibri" pitchFamily="34" charset="-120"/>
              </a:rPr>
              <a:t>https://github.com/arpitthakor28/sms1  (Full-stack codebase, reports &amp; slides)</a:t>
            </a:r>
            <a:endParaRPr lang="en-US" sz="850" dirty="0"/>
          </a:p>
        </p:txBody>
      </p:sp>
      <p:sp>
        <p:nvSpPr>
          <p:cNvPr id="13" name="Shape 11"/>
          <p:cNvSpPr/>
          <p:nvPr/>
        </p:nvSpPr>
        <p:spPr>
          <a:xfrm>
            <a:off x="548640" y="3337560"/>
            <a:ext cx="8046720" cy="1280160"/>
          </a:xfrm>
          <a:prstGeom prst="rect">
            <a:avLst/>
          </a:prstGeom>
          <a:solidFill>
            <a:srgbClr val="FFFFFF"/>
          </a:solidFill>
          <a:ln w="12700">
            <a:solidFill>
              <a:srgbClr val="E2E8F0"/>
            </a:solidFill>
            <a:prstDash val="solid"/>
          </a:ln>
        </p:spPr>
      </p:sp>
      <p:sp>
        <p:nvSpPr>
          <p:cNvPr id="14" name="Shape 12"/>
          <p:cNvSpPr/>
          <p:nvPr/>
        </p:nvSpPr>
        <p:spPr>
          <a:xfrm>
            <a:off x="548640" y="3337560"/>
            <a:ext cx="73152" cy="1280160"/>
          </a:xfrm>
          <a:prstGeom prst="rect">
            <a:avLst/>
          </a:prstGeom>
          <a:solidFill>
            <a:srgbClr val="0F2942"/>
          </a:solidFill>
          <a:ln w="12700">
            <a:solidFill>
              <a:srgbClr val="0F2942"/>
            </a:solidFill>
            <a:prstDash val="solid"/>
          </a:ln>
        </p:spPr>
      </p:sp>
      <p:sp>
        <p:nvSpPr>
          <p:cNvPr id="15" name="Text 13"/>
          <p:cNvSpPr/>
          <p:nvPr/>
        </p:nvSpPr>
        <p:spPr>
          <a:xfrm>
            <a:off x="777240" y="3429000"/>
            <a:ext cx="4023360" cy="1143000"/>
          </a:xfrm>
          <a:prstGeom prst="rect">
            <a:avLst/>
          </a:prstGeom>
          <a:noFill/>
          <a:ln/>
        </p:spPr>
        <p:txBody>
          <a:bodyPr wrap="square" rtlCol="0" anchor="ctr"/>
          <a:lstStyle/>
          <a:p>
            <a:pPr indent="0" marL="0">
              <a:buNone/>
            </a:pPr>
            <a:r>
              <a:rPr lang="en-US" sz="850" b="1" dirty="0">
                <a:solidFill>
                  <a:srgbClr val="64748B"/>
                </a:solidFill>
                <a:latin typeface="Calibri" pitchFamily="34" charset="0"/>
                <a:ea typeface="Calibri" pitchFamily="34" charset="-122"/>
                <a:cs typeface="Calibri" pitchFamily="34" charset="-120"/>
              </a:rPr>
              <a:t>STUDENT DEVELOPER
</a:t>
            </a:r>
            <a:pPr indent="0" marL="0">
              <a:buNone/>
            </a:pPr>
            <a:r>
              <a:rPr lang="en-US" sz="1400" b="1" dirty="0">
                <a:solidFill>
                  <a:srgbClr val="0F172A"/>
                </a:solidFill>
                <a:latin typeface="Calibri" pitchFamily="34" charset="0"/>
                <a:ea typeface="Calibri" pitchFamily="34" charset="-122"/>
                <a:cs typeface="Calibri" pitchFamily="34" charset="-120"/>
              </a:rPr>
              <a:t>ARPITSINH THAKOR
</a:t>
            </a:r>
            <a:pPr indent="0" marL="0">
              <a:buNone/>
            </a:pPr>
            <a:r>
              <a:rPr lang="en-US" sz="1100" b="1" dirty="0">
                <a:solidFill>
                  <a:srgbClr val="1E40AF"/>
                </a:solidFill>
                <a:latin typeface="Calibri" pitchFamily="34" charset="0"/>
                <a:ea typeface="Calibri" pitchFamily="34" charset="-122"/>
                <a:cs typeface="Calibri" pitchFamily="34" charset="-120"/>
              </a:rPr>
              <a:t>Enrollment Number: 23SE02IE040
</a:t>
            </a:r>
            <a:pPr indent="0" marL="0">
              <a:buNone/>
            </a:pPr>
            <a:r>
              <a:rPr lang="en-US" sz="950" dirty="0">
                <a:solidFill>
                  <a:srgbClr val="334155"/>
                </a:solidFill>
                <a:latin typeface="Calibri" pitchFamily="34" charset="0"/>
                <a:ea typeface="Calibri" pitchFamily="34" charset="-122"/>
                <a:cs typeface="Calibri" pitchFamily="34" charset="-120"/>
              </a:rPr>
              <a:t>B.Tech in Information Technology &amp; Engineering
</a:t>
            </a:r>
            <a:pPr indent="0" marL="0">
              <a:buNone/>
            </a:pPr>
            <a:r>
              <a:rPr lang="en-US" sz="950" b="1" dirty="0">
                <a:solidFill>
                  <a:srgbClr val="0F2942"/>
                </a:solidFill>
                <a:latin typeface="Calibri" pitchFamily="34" charset="0"/>
                <a:ea typeface="Calibri" pitchFamily="34" charset="-122"/>
                <a:cs typeface="Calibri" pitchFamily="34" charset="-120"/>
              </a:rPr>
              <a:t>Technology Focus: Full Stack Development - Java</a:t>
            </a:r>
            <a:endParaRPr lang="en-US" sz="850" dirty="0"/>
          </a:p>
        </p:txBody>
      </p:sp>
      <p:sp>
        <p:nvSpPr>
          <p:cNvPr id="16" name="Text 14"/>
          <p:cNvSpPr/>
          <p:nvPr/>
        </p:nvSpPr>
        <p:spPr>
          <a:xfrm>
            <a:off x="4937760" y="3429000"/>
            <a:ext cx="3474720" cy="1143000"/>
          </a:xfrm>
          <a:prstGeom prst="rect">
            <a:avLst/>
          </a:prstGeom>
          <a:noFill/>
          <a:ln/>
        </p:spPr>
        <p:txBody>
          <a:bodyPr wrap="square" rtlCol="0" anchor="ctr"/>
          <a:lstStyle/>
          <a:p>
            <a:pPr indent="0" marL="0">
              <a:buNone/>
            </a:pPr>
            <a:r>
              <a:rPr lang="en-US" sz="850" b="1" dirty="0">
                <a:solidFill>
                  <a:srgbClr val="64748B"/>
                </a:solidFill>
                <a:latin typeface="Calibri" pitchFamily="34" charset="0"/>
                <a:ea typeface="Calibri" pitchFamily="34" charset="-122"/>
                <a:cs typeface="Calibri" pitchFamily="34" charset="-120"/>
              </a:rPr>
              <a:t>DEPARTMENT &amp; INSTITUTION
</a:t>
            </a:r>
            <a:pPr indent="0" marL="0">
              <a:buNone/>
            </a:pPr>
            <a:r>
              <a:rPr lang="en-US" sz="1300" b="1" dirty="0">
                <a:solidFill>
                  <a:srgbClr val="0F172A"/>
                </a:solidFill>
                <a:latin typeface="Calibri" pitchFamily="34" charset="0"/>
                <a:ea typeface="Calibri" pitchFamily="34" charset="-122"/>
                <a:cs typeface="Calibri" pitchFamily="34" charset="-120"/>
              </a:rPr>
              <a:t>School of Engineering
</a:t>
            </a:r>
            <a:pPr indent="0" marL="0">
              <a:buNone/>
            </a:pPr>
            <a:r>
              <a:rPr lang="en-US" sz="1000" dirty="0">
                <a:solidFill>
                  <a:srgbClr val="1E40AF"/>
                </a:solidFill>
                <a:latin typeface="Calibri" pitchFamily="34" charset="0"/>
                <a:ea typeface="Calibri" pitchFamily="34" charset="-122"/>
                <a:cs typeface="Calibri" pitchFamily="34" charset="-120"/>
              </a:rPr>
              <a:t>P. P. Savani University, Surat, Gujarat
</a:t>
            </a:r>
            <a:pPr indent="0" marL="0">
              <a:buNone/>
            </a:pPr>
            <a:r>
              <a:rPr lang="en-US" sz="900" dirty="0">
                <a:solidFill>
                  <a:srgbClr val="64748B"/>
                </a:solidFill>
                <a:latin typeface="Calibri" pitchFamily="34" charset="0"/>
                <a:ea typeface="Calibri" pitchFamily="34" charset="-122"/>
                <a:cs typeface="Calibri" pitchFamily="34" charset="-120"/>
              </a:rPr>
              <a:t>Major Engineering Project Presentation  •  Academic Year 2025–2026</a:t>
            </a:r>
            <a:endParaRPr lang="en-US" sz="850" dirty="0"/>
          </a:p>
        </p:txBody>
      </p:sp>
      <p:sp>
        <p:nvSpPr>
          <p:cNvPr id="17" name="Text 15"/>
          <p:cNvSpPr/>
          <p:nvPr/>
        </p:nvSpPr>
        <p:spPr>
          <a:xfrm>
            <a:off x="548640" y="4800600"/>
            <a:ext cx="8046720" cy="201168"/>
          </a:xfrm>
          <a:prstGeom prst="rect">
            <a:avLst/>
          </a:prstGeom>
          <a:noFill/>
          <a:ln/>
        </p:spPr>
        <p:txBody>
          <a:bodyPr wrap="square" rtlCol="0" anchor="ctr"/>
          <a:lstStyle/>
          <a:p>
            <a:pPr indent="0" marL="0">
              <a:buNone/>
            </a:pPr>
            <a:r>
              <a:rPr lang="en-US" sz="850" dirty="0">
                <a:solidFill>
                  <a:srgbClr val="64748B"/>
                </a:solidFill>
                <a:latin typeface="Calibri" pitchFamily="34" charset="0"/>
                <a:ea typeface="Calibri" pitchFamily="34" charset="-122"/>
                <a:cs typeface="Calibri" pitchFamily="34" charset="-120"/>
              </a:rPr>
              <a:t>GateSync — Smart Society Security System  |  All Rights Reserved © 2026</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School of Engineering, P. P. Savani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GATESYNC - Smart Residential Security &amp; Visitor Management System</dc:title>
  <dc:subject>PptxGenJS Presentation</dc:subject>
  <dc:creator>Arpitsinh Thakor (23SE02IE040)</dc:creator>
  <cp:lastModifiedBy>Arpitsinh Thakor (23SE02IE040)</cp:lastModifiedBy>
  <cp:revision>1</cp:revision>
  <dcterms:created xsi:type="dcterms:W3CDTF">2026-10-26T06:40:51Z</dcterms:created>
  <dcterms:modified xsi:type="dcterms:W3CDTF">2026-10-26T06:40:51Z</dcterms:modified>
</cp:coreProperties>
</file>